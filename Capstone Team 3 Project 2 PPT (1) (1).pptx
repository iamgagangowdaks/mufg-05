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0"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B279106-F635-453E-8BA0-E6B668AF8050}"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B279106-F635-453E-8BA0-E6B668AF8050}"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279106-F635-453E-8BA0-E6B668AF8050}"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B279106-F635-453E-8BA0-E6B668AF8050}" type="datetimeFigureOut">
              <a:rPr lang="en-IN" smtClean="0"/>
              <a:t>23-02-2026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B279106-F635-453E-8BA0-E6B668AF8050}" type="datetimeFigureOut">
              <a:rPr lang="en-IN" smtClean="0"/>
              <a:t>23-02-2026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B279106-F635-453E-8BA0-E6B668AF8050}" type="datetimeFigureOut">
              <a:rPr lang="en-IN" smtClean="0"/>
              <a:t>23-02-2026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279106-F635-453E-8BA0-E6B668AF8050}" type="datetimeFigureOut">
              <a:rPr lang="en-IN" smtClean="0"/>
              <a:t>23-02-2026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279106-F635-453E-8BA0-E6B668AF8050}" type="datetimeFigureOut">
              <a:rPr lang="en-IN" smtClean="0"/>
              <a:t>23-02-2026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279106-F635-453E-8BA0-E6B668AF8050}" type="datetimeFigureOut">
              <a:rPr lang="en-IN" smtClean="0"/>
              <a:t>23-02-2026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B279106-F635-453E-8BA0-E6B668AF8050}"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B279106-F635-453E-8BA0-E6B668AF8050}" type="datetimeFigureOut">
              <a:rPr lang="en-IN" smtClean="0"/>
              <a:t>23-02-2026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447402-4F5F-4B9C-AAE0-313DFBBA322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279106-F635-453E-8BA0-E6B668AF8050}" type="datetimeFigureOut">
              <a:rPr lang="en-IN" smtClean="0"/>
              <a:t>23-02-2026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447402-4F5F-4B9C-AAE0-313DFBBA322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2849217"/>
            <a:ext cx="9236765" cy="949897"/>
          </a:xfrm>
        </p:spPr>
        <p:txBody>
          <a:bodyPr>
            <a:noAutofit/>
          </a:bodyPr>
          <a:lstStyle/>
          <a:p>
            <a:pPr>
              <a:lnSpc>
                <a:spcPct val="200000"/>
              </a:lnSpc>
            </a:pPr>
            <a:br>
              <a:rPr lang="en-US" sz="2800" b="1">
                <a:solidFill>
                  <a:srgbClr val="0C3571"/>
                </a:solidFill>
                <a:latin typeface="Anantason Bold"/>
                <a:ea typeface="Anantason Bold"/>
                <a:cs typeface="Anantason Bold"/>
                <a:sym typeface="Anantason Bold"/>
              </a:rPr>
            </a:br>
            <a:br>
              <a:rPr lang="en-US" sz="2800" b="1">
                <a:solidFill>
                  <a:srgbClr val="0C3571"/>
                </a:solidFill>
                <a:latin typeface="Anantason Bold"/>
                <a:ea typeface="Anantason Bold"/>
                <a:cs typeface="Anantason Bold"/>
                <a:sym typeface="Anantason Bold"/>
              </a:rPr>
            </a:br>
            <a:br>
              <a:rPr lang="en-US" sz="2800" b="1">
                <a:solidFill>
                  <a:srgbClr val="0C3571"/>
                </a:solidFill>
                <a:latin typeface="Anantason Bold"/>
                <a:ea typeface="Anantason Bold"/>
                <a:cs typeface="Anantason Bold"/>
                <a:sym typeface="Anantason Bold"/>
              </a:rPr>
            </a:br>
            <a:br>
              <a:rPr lang="en-US" sz="2800" b="1">
                <a:solidFill>
                  <a:srgbClr val="0C3571"/>
                </a:solidFill>
                <a:latin typeface="Anantason Bold"/>
                <a:ea typeface="Anantason Bold"/>
                <a:cs typeface="Anantason Bold"/>
                <a:sym typeface="Anantason Bold"/>
              </a:rPr>
            </a:br>
            <a:br>
              <a:rPr lang="en-US" sz="2800" b="1">
                <a:solidFill>
                  <a:srgbClr val="0C3571"/>
                </a:solidFill>
                <a:latin typeface="Anantason Bold"/>
                <a:ea typeface="Anantason Bold"/>
                <a:cs typeface="Anantason Bold"/>
                <a:sym typeface="Anantason Bold"/>
              </a:rPr>
            </a:br>
            <a:r>
              <a:rPr lang="en-US" sz="4400" b="1">
                <a:solidFill>
                  <a:srgbClr val="0C3571"/>
                </a:solidFill>
                <a:latin typeface="Times New Roman" panose="02020603050405020304" pitchFamily="18" charset="0"/>
                <a:ea typeface="Anantason Bold"/>
                <a:cs typeface="Times New Roman" panose="02020603050405020304" pitchFamily="18" charset="0"/>
                <a:sym typeface="Anantason Bold"/>
              </a:rPr>
              <a:t>Capstone Project2</a:t>
            </a:r>
            <a:br>
              <a:rPr lang="en-US" sz="4400" b="1">
                <a:solidFill>
                  <a:srgbClr val="0C3571"/>
                </a:solidFill>
                <a:latin typeface="Times New Roman" panose="02020603050405020304" pitchFamily="18" charset="0"/>
                <a:ea typeface="Anantason Bold"/>
                <a:cs typeface="Times New Roman" panose="02020603050405020304" pitchFamily="18" charset="0"/>
                <a:sym typeface="Anantason Bold"/>
              </a:rPr>
            </a:br>
            <a:r>
              <a:rPr lang="en-US" sz="4400" b="1">
                <a:solidFill>
                  <a:srgbClr val="FF0000"/>
                </a:solidFill>
                <a:latin typeface="Times New Roman" panose="02020603050405020304" pitchFamily="18" charset="0"/>
                <a:ea typeface="Anantason Bold"/>
                <a:cs typeface="Times New Roman" panose="02020603050405020304" pitchFamily="18" charset="0"/>
                <a:sym typeface="Anantason Bold"/>
              </a:rPr>
              <a:t>HEART DISEASE DETECTION</a:t>
            </a:r>
            <a:endParaRPr lang="en-IN" sz="4400" dirty="0">
              <a:solidFill>
                <a:srgbClr val="FF0000"/>
              </a:solidFill>
            </a:endParaRPr>
          </a:p>
        </p:txBody>
      </p:sp>
      <p:sp>
        <p:nvSpPr>
          <p:cNvPr id="4" name="TextBox 3"/>
          <p:cNvSpPr txBox="1"/>
          <p:nvPr/>
        </p:nvSpPr>
        <p:spPr>
          <a:xfrm>
            <a:off x="7522028" y="4225385"/>
            <a:ext cx="4125685" cy="2462213"/>
          </a:xfrm>
          <a:prstGeom prst="rect">
            <a:avLst/>
          </a:prstGeom>
          <a:noFill/>
        </p:spPr>
        <p:txBody>
          <a:bodyPr wrap="square" rtlCol="0">
            <a:spAutoFit/>
          </a:bodyPr>
          <a:lstStyle/>
          <a:p>
            <a:r>
              <a:rPr lang="en-IN" sz="2800" dirty="0">
                <a:solidFill>
                  <a:schemeClr val="accent1">
                    <a:lumMod val="75000"/>
                  </a:schemeClr>
                </a:solidFill>
                <a:latin typeface="Times New Roman" panose="02020603050405020304" pitchFamily="18" charset="0"/>
                <a:cs typeface="Times New Roman" panose="02020603050405020304" pitchFamily="18" charset="0"/>
              </a:rPr>
              <a:t>Team Members</a:t>
            </a:r>
          </a:p>
          <a:p>
            <a:r>
              <a:rPr lang="en-IN" dirty="0">
                <a:solidFill>
                  <a:schemeClr val="accent1">
                    <a:lumMod val="75000"/>
                  </a:schemeClr>
                </a:solidFill>
                <a:latin typeface="Times New Roman" panose="02020603050405020304" pitchFamily="18" charset="0"/>
                <a:cs typeface="Times New Roman" panose="02020603050405020304" pitchFamily="18" charset="0"/>
              </a:rPr>
              <a:t> </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T120100510 – Gagan Gowda K S</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r>
              <a:rPr lang="en-IN" altLang="en-IN" dirty="0">
                <a:solidFill>
                  <a:schemeClr val="accent1">
                    <a:lumMod val="75000"/>
                  </a:schemeClr>
                </a:solidFill>
                <a:latin typeface="Times New Roman" panose="02020603050405020304" pitchFamily="18" charset="0"/>
                <a:cs typeface="Times New Roman" panose="02020603050405020304" pitchFamily="18" charset="0"/>
                <a:sym typeface="+mn-ea"/>
              </a:rPr>
              <a:t> </a:t>
            </a:r>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T120100522 – Srinivas T R</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IN" dirty="0">
                <a:solidFill>
                  <a:schemeClr val="accent1">
                    <a:lumMod val="75000"/>
                  </a:schemeClr>
                </a:solidFill>
                <a:latin typeface="Times New Roman" panose="02020603050405020304" pitchFamily="18" charset="0"/>
                <a:cs typeface="Times New Roman" panose="02020603050405020304" pitchFamily="18" charset="0"/>
              </a:rPr>
              <a:t> </a:t>
            </a:r>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T120100520 – Manoj H R</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IN" dirty="0">
                <a:solidFill>
                  <a:schemeClr val="accent1">
                    <a:lumMod val="75000"/>
                  </a:schemeClr>
                </a:solidFill>
                <a:latin typeface="Times New Roman" panose="02020603050405020304" pitchFamily="18" charset="0"/>
                <a:cs typeface="Times New Roman" panose="02020603050405020304" pitchFamily="18" charset="0"/>
              </a:rPr>
              <a:t> </a:t>
            </a:r>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T120100532 – Akash Kumar N S</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a:p>
            <a:r>
              <a:rPr lang="en-IN" altLang="en-IN" dirty="0">
                <a:solidFill>
                  <a:schemeClr val="accent1">
                    <a:lumMod val="75000"/>
                  </a:schemeClr>
                </a:solidFill>
                <a:latin typeface="Times New Roman" panose="02020603050405020304" pitchFamily="18" charset="0"/>
                <a:cs typeface="Times New Roman" panose="02020603050405020304" pitchFamily="18" charset="0"/>
                <a:sym typeface="+mn-ea"/>
              </a:rPr>
              <a:t> </a:t>
            </a:r>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T120100538 – Nithin M</a:t>
            </a:r>
            <a:endParaRPr lang="en-US" altLang="en-IN"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IN" dirty="0">
                <a:solidFill>
                  <a:schemeClr val="accent1">
                    <a:lumMod val="75000"/>
                  </a:schemeClr>
                </a:solidFill>
                <a:latin typeface="Times New Roman" panose="02020603050405020304" pitchFamily="18" charset="0"/>
                <a:cs typeface="Times New Roman" panose="02020603050405020304" pitchFamily="18" charset="0"/>
                <a:sym typeface="+mn-ea"/>
              </a:rPr>
              <a:t> T120100541 –</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 </a:t>
            </a:r>
            <a:r>
              <a:rPr lang="en-US" altLang="en-IN">
                <a:solidFill>
                  <a:schemeClr val="accent1">
                    <a:lumMod val="75000"/>
                  </a:schemeClr>
                </a:solidFill>
                <a:latin typeface="Times New Roman" panose="02020603050405020304" pitchFamily="18" charset="0"/>
                <a:cs typeface="Times New Roman" panose="02020603050405020304" pitchFamily="18" charset="0"/>
              </a:rPr>
              <a:t>GaganV</a:t>
            </a:r>
            <a:r>
              <a:rPr lang="en-US" altLang="en-IN" dirty="0">
                <a:solidFill>
                  <a:schemeClr val="accent1">
                    <a:lumMod val="75000"/>
                  </a:schemeClr>
                </a:solidFill>
                <a:latin typeface="Times New Roman" panose="02020603050405020304" pitchFamily="18" charset="0"/>
                <a:cs typeface="Times New Roman" panose="02020603050405020304" pitchFamily="18" charset="0"/>
              </a:rPr>
              <a:t> K</a:t>
            </a:r>
          </a:p>
          <a:p>
            <a:endParaRPr lang="en-US" altLang="en-IN"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6154420"/>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Table of Contents</a:t>
            </a:r>
          </a:p>
          <a:p>
            <a:pPr marL="285750" indent="-285750">
              <a:buFont typeface="Arial" panose="020B0604020202020204" pitchFamily="34" charset="0"/>
              <a:buChar char="•"/>
            </a:pPr>
            <a:r>
              <a:rPr lang="en-US" altLang="en-IN" sz="2800" dirty="0">
                <a:solidFill>
                  <a:schemeClr val="accent1">
                    <a:lumMod val="75000"/>
                  </a:schemeClr>
                </a:solidFill>
                <a:latin typeface="Times New Roman" panose="02020603050405020304" pitchFamily="18" charset="0"/>
                <a:cs typeface="Times New Roman" panose="02020603050405020304" pitchFamily="18" charset="0"/>
              </a:rPr>
              <a:t>Intoduction</a:t>
            </a:r>
            <a:endParaRPr lang="en-IN" sz="2800"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Docker Deployment</a:t>
            </a:r>
          </a:p>
          <a:p>
            <a:pPr marL="285750" indent="-285750">
              <a:buFont typeface="Arial" panose="020B0604020202020204" pitchFamily="34" charset="0"/>
              <a:buChar char="•"/>
            </a:pPr>
            <a:r>
              <a:rPr lang="en-IN" sz="28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22028" y="4225385"/>
            <a:ext cx="4125685" cy="368300"/>
          </a:xfrm>
          <a:prstGeom prst="rect">
            <a:avLst/>
          </a:prstGeom>
          <a:noFill/>
        </p:spPr>
        <p:txBody>
          <a:bodyPr wrap="square" rtlCol="0">
            <a:spAutoFit/>
          </a:bodyPr>
          <a:lstStyle/>
          <a:p>
            <a:endParaRPr lang="en-US" altLang="en-IN"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0232571" y="304800"/>
            <a:ext cx="1578429" cy="1055914"/>
          </a:xfrm>
          <a:prstGeom prst="rect">
            <a:avLst/>
          </a:prstGeom>
        </p:spPr>
      </p:pic>
      <p:sp>
        <p:nvSpPr>
          <p:cNvPr id="3" name="Text Box 2"/>
          <p:cNvSpPr txBox="1"/>
          <p:nvPr/>
        </p:nvSpPr>
        <p:spPr>
          <a:xfrm>
            <a:off x="483870" y="765810"/>
            <a:ext cx="11442700" cy="1169035"/>
          </a:xfrm>
          <a:prstGeom prst="rect">
            <a:avLst/>
          </a:prstGeom>
          <a:noFill/>
        </p:spPr>
        <p:txBody>
          <a:bodyPr wrap="square" rtlCol="0">
            <a:noAutofit/>
          </a:bodyPr>
          <a:lstStyle/>
          <a:p>
            <a:r>
              <a:rPr lang="en-US" altLang="en-GB" sz="4000">
                <a:solidFill>
                  <a:schemeClr val="accent1"/>
                </a:solidFill>
                <a:latin typeface="Times New Roman" panose="02020603050405020304" pitchFamily="18" charset="0"/>
                <a:cs typeface="Times New Roman" panose="02020603050405020304" pitchFamily="18" charset="0"/>
              </a:rPr>
              <a:t>INTRODUCTION</a:t>
            </a:r>
          </a:p>
          <a:p>
            <a:endParaRPr lang="en-US" altLang="en-GB" sz="2000">
              <a:solidFill>
                <a:schemeClr val="accent1"/>
              </a:solidFill>
              <a:latin typeface="Times New Roman" panose="02020603050405020304" pitchFamily="18" charset="0"/>
              <a:cs typeface="Times New Roman" panose="02020603050405020304" pitchFamily="18" charset="0"/>
            </a:endParaRPr>
          </a:p>
          <a:p>
            <a:r>
              <a:rPr lang="en-US" altLang="en-GB" sz="2500">
                <a:solidFill>
                  <a:schemeClr val="tx1"/>
                </a:solidFill>
                <a:latin typeface="Times New Roman" panose="02020603050405020304" pitchFamily="18" charset="0"/>
                <a:cs typeface="Times New Roman" panose="02020603050405020304" pitchFamily="18" charset="0"/>
              </a:rPr>
              <a:t>Heart disease continues to be one of the leading causes of mortality worldwide, making early detection and prevention a global healthcare priority. Accurate prediction of heart disease through diagnostic data not only saves lives but also reduces healthcare costs and enables doctors to make informed decisions more quickly.</a:t>
            </a:r>
          </a:p>
          <a:p>
            <a:endParaRPr lang="en-US" altLang="en-GB" sz="2500">
              <a:solidFill>
                <a:schemeClr val="tx1"/>
              </a:solidFill>
              <a:latin typeface="Times New Roman" panose="02020603050405020304" pitchFamily="18" charset="0"/>
              <a:cs typeface="Times New Roman" panose="02020603050405020304" pitchFamily="18" charset="0"/>
            </a:endParaRPr>
          </a:p>
          <a:p>
            <a:r>
              <a:rPr lang="en-US" altLang="en-GB" sz="2500">
                <a:solidFill>
                  <a:schemeClr val="tx1"/>
                </a:solidFill>
                <a:latin typeface="Times New Roman" panose="02020603050405020304" pitchFamily="18" charset="0"/>
                <a:cs typeface="Times New Roman" panose="02020603050405020304" pitchFamily="18" charset="0"/>
              </a:rPr>
              <a:t>In this project, we aimed to answer a critical question:</a:t>
            </a:r>
          </a:p>
          <a:p>
            <a:r>
              <a:rPr lang="en-US" altLang="en-GB" sz="2500">
                <a:solidFill>
                  <a:schemeClr val="tx1"/>
                </a:solidFill>
                <a:latin typeface="Times New Roman" panose="02020603050405020304" pitchFamily="18" charset="0"/>
                <a:cs typeface="Times New Roman" panose="02020603050405020304" pitchFamily="18" charset="0"/>
              </a:rPr>
              <a:t>Can we accurately predict the presence of heart disease based on a patient’s diagnostic test results and clinical measurements?</a:t>
            </a:r>
          </a:p>
          <a:p>
            <a:endParaRPr lang="en-US" altLang="en-GB" sz="2500">
              <a:solidFill>
                <a:schemeClr val="tx1"/>
              </a:solidFill>
              <a:latin typeface="Times New Roman" panose="02020603050405020304" pitchFamily="18" charset="0"/>
              <a:cs typeface="Times New Roman" panose="02020603050405020304" pitchFamily="18" charset="0"/>
            </a:endParaRPr>
          </a:p>
          <a:p>
            <a:r>
              <a:rPr lang="en-US" altLang="en-GB" sz="2500">
                <a:solidFill>
                  <a:schemeClr val="tx1"/>
                </a:solidFill>
                <a:latin typeface="Times New Roman" panose="02020603050405020304" pitchFamily="18" charset="0"/>
                <a:cs typeface="Times New Roman" panose="02020603050405020304" pitchFamily="18" charset="0"/>
              </a:rPr>
              <a:t>To address this, we worked with a dataset containing demographic details, clinical measurements, and diagnostic test results such as blood pressure, cholesterol levels, ECG findings, exercise-induced angina, and more.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723890"/>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Problem Statement</a:t>
            </a:r>
          </a:p>
          <a:p>
            <a:r>
              <a:rPr lang="en-US" altLang="en-GB" sz="2200" b="1" dirty="0">
                <a:solidFill>
                  <a:schemeClr val="tx1"/>
                </a:solidFill>
                <a:latin typeface="Times New Roman" panose="02020603050405020304" pitchFamily="18" charset="0"/>
                <a:cs typeface="Times New Roman" panose="02020603050405020304" pitchFamily="18" charset="0"/>
              </a:rPr>
              <a:t>Primary Question:</a:t>
            </a:r>
          </a:p>
          <a:p>
            <a:r>
              <a:rPr lang="en-US" altLang="en-GB" sz="2200" dirty="0">
                <a:solidFill>
                  <a:schemeClr val="tx1"/>
                </a:solidFill>
                <a:latin typeface="Times New Roman" panose="02020603050405020304" pitchFamily="18" charset="0"/>
                <a:cs typeface="Times New Roman" panose="02020603050405020304" pitchFamily="18" charset="0"/>
              </a:rPr>
              <a:t>Can we accurately predict the presence of heart disease in patients based on their diagnostic test results and clinical measurements?</a:t>
            </a:r>
          </a:p>
          <a:p>
            <a:endParaRPr lang="en-US" altLang="en-GB" sz="2200" dirty="0">
              <a:solidFill>
                <a:schemeClr val="tx1"/>
              </a:solidFill>
              <a:latin typeface="Times New Roman" panose="02020603050405020304" pitchFamily="18" charset="0"/>
              <a:cs typeface="Times New Roman" panose="02020603050405020304" pitchFamily="18" charset="0"/>
            </a:endParaRPr>
          </a:p>
          <a:p>
            <a:r>
              <a:rPr lang="en-US" altLang="en-GB" sz="2200" b="1" dirty="0">
                <a:solidFill>
                  <a:schemeClr val="tx1"/>
                </a:solidFill>
                <a:latin typeface="Times New Roman" panose="02020603050405020304" pitchFamily="18" charset="0"/>
                <a:cs typeface="Times New Roman" panose="02020603050405020304" pitchFamily="18" charset="0"/>
              </a:rPr>
              <a:t>Business Context:</a:t>
            </a:r>
          </a:p>
          <a:p>
            <a:r>
              <a:rPr lang="en-US" altLang="en-GB" sz="2200" dirty="0">
                <a:solidFill>
                  <a:schemeClr val="tx1"/>
                </a:solidFill>
                <a:latin typeface="Times New Roman" panose="02020603050405020304" pitchFamily="18" charset="0"/>
                <a:cs typeface="Times New Roman" panose="02020603050405020304" pitchFamily="18" charset="0"/>
              </a:rPr>
              <a:t>Heart disease remains one of the leading causes of death globally. Early detection through diagnostic screening can significantly improve patient outcomes and reduce healthcare costs. This project simulates a real-world scenario where data scientists work with medical professionals to develop predictive models for clinical decision support.</a:t>
            </a:r>
          </a:p>
          <a:p>
            <a:endParaRPr lang="en-US" altLang="en-GB" sz="2200" b="1" dirty="0">
              <a:solidFill>
                <a:schemeClr val="tx1"/>
              </a:solidFill>
              <a:latin typeface="Times New Roman" panose="02020603050405020304" pitchFamily="18" charset="0"/>
              <a:cs typeface="Times New Roman" panose="02020603050405020304" pitchFamily="18" charset="0"/>
            </a:endParaRPr>
          </a:p>
          <a:p>
            <a:r>
              <a:rPr lang="en-US" altLang="en-GB" sz="2200" b="1" dirty="0">
                <a:solidFill>
                  <a:schemeClr val="tx1"/>
                </a:solidFill>
                <a:latin typeface="Times New Roman" panose="02020603050405020304" pitchFamily="18" charset="0"/>
                <a:cs typeface="Times New Roman" panose="02020603050405020304" pitchFamily="18" charset="0"/>
              </a:rPr>
              <a:t>Challenge:</a:t>
            </a:r>
          </a:p>
          <a:p>
            <a:r>
              <a:rPr lang="en-US" altLang="en-GB" sz="2200" dirty="0">
                <a:solidFill>
                  <a:schemeClr val="tx1"/>
                </a:solidFill>
                <a:latin typeface="Times New Roman" panose="02020603050405020304" pitchFamily="18" charset="0"/>
                <a:cs typeface="Times New Roman" panose="02020603050405020304" pitchFamily="18" charset="0"/>
              </a:rPr>
              <a:t>Given a patient's diagnostic test results (blood pressure, cholesterol levels, ECG results, exercise capacity, etc.), predict whether the patient has heart disease or not.</a:t>
            </a:r>
          </a:p>
          <a:p>
            <a:endParaRPr lang="en-US" altLang="en-GB" sz="22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631180"/>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Overview of the Project</a:t>
            </a:r>
          </a:p>
          <a:p>
            <a:r>
              <a:rPr lang="en-US" altLang="en-GB" sz="2000" b="1" dirty="0">
                <a:solidFill>
                  <a:schemeClr val="tx1"/>
                </a:solidFill>
                <a:latin typeface="Times New Roman" panose="02020603050405020304" pitchFamily="18" charset="0"/>
                <a:cs typeface="Times New Roman" panose="02020603050405020304" pitchFamily="18" charset="0"/>
              </a:rPr>
              <a:t>Objective:</a:t>
            </a:r>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Develop and optimize machine learning models to predict heart disease using clinical and diagnostic data.</a:t>
            </a:r>
          </a:p>
          <a:p>
            <a:r>
              <a:rPr lang="en-US" altLang="en-GB" sz="2000" b="1" dirty="0">
                <a:solidFill>
                  <a:schemeClr val="tx1"/>
                </a:solidFill>
                <a:latin typeface="Times New Roman" panose="02020603050405020304" pitchFamily="18" charset="0"/>
                <a:cs typeface="Times New Roman" panose="02020603050405020304" pitchFamily="18" charset="0"/>
              </a:rPr>
              <a:t>Scope:</a:t>
            </a:r>
          </a:p>
          <a:p>
            <a:r>
              <a:rPr lang="en-US" altLang="en-GB" sz="2000" dirty="0">
                <a:solidFill>
                  <a:schemeClr val="tx1"/>
                </a:solidFill>
                <a:latin typeface="Times New Roman" panose="02020603050405020304" pitchFamily="18" charset="0"/>
                <a:cs typeface="Times New Roman" panose="02020603050405020304" pitchFamily="18" charset="0"/>
              </a:rPr>
              <a:t>Work with patient diagnostic test results (blood pressure, cholesterol, ECG, exercise capacity, etc.)</a:t>
            </a:r>
          </a:p>
          <a:p>
            <a:r>
              <a:rPr lang="en-US" altLang="en-GB" sz="2000" dirty="0">
                <a:solidFill>
                  <a:schemeClr val="tx1"/>
                </a:solidFill>
                <a:latin typeface="Times New Roman" panose="02020603050405020304" pitchFamily="18" charset="0"/>
                <a:cs typeface="Times New Roman" panose="02020603050405020304" pitchFamily="18" charset="0"/>
              </a:rPr>
              <a:t>Build classification models to assist healthcare professionals in early detection and risk assessment</a:t>
            </a:r>
          </a:p>
          <a:p>
            <a:r>
              <a:rPr lang="en-US" altLang="en-GB" sz="2000" b="1" dirty="0">
                <a:solidFill>
                  <a:schemeClr val="tx1"/>
                </a:solidFill>
                <a:latin typeface="Times New Roman" panose="02020603050405020304" pitchFamily="18" charset="0"/>
                <a:cs typeface="Times New Roman" panose="02020603050405020304" pitchFamily="18" charset="0"/>
              </a:rPr>
              <a:t>Approach:</a:t>
            </a:r>
          </a:p>
          <a:p>
            <a:r>
              <a:rPr lang="en-US" altLang="en-GB" sz="2000" dirty="0">
                <a:solidFill>
                  <a:schemeClr val="tx1"/>
                </a:solidFill>
                <a:latin typeface="Times New Roman" panose="02020603050405020304" pitchFamily="18" charset="0"/>
                <a:cs typeface="Times New Roman" panose="02020603050405020304" pitchFamily="18" charset="0"/>
              </a:rPr>
              <a:t>Data Exploration &amp; Preprocessing: Analyze, clean, and prepare data for modeling</a:t>
            </a:r>
          </a:p>
          <a:p>
            <a:r>
              <a:rPr lang="en-US" altLang="en-GB" sz="2000" dirty="0">
                <a:solidFill>
                  <a:schemeClr val="tx1"/>
                </a:solidFill>
                <a:latin typeface="Times New Roman" panose="02020603050405020304" pitchFamily="18" charset="0"/>
                <a:cs typeface="Times New Roman" panose="02020603050405020304" pitchFamily="18" charset="0"/>
              </a:rPr>
              <a:t>Model Development: Implement multiple algorithms (Decision Tree, Random Forest, Logistic Regression, SVM)</a:t>
            </a:r>
          </a:p>
          <a:p>
            <a:r>
              <a:rPr lang="en-US" altLang="en-GB" sz="2000" dirty="0">
                <a:solidFill>
                  <a:schemeClr val="tx1"/>
                </a:solidFill>
                <a:latin typeface="Times New Roman" panose="02020603050405020304" pitchFamily="18" charset="0"/>
                <a:cs typeface="Times New Roman" panose="02020603050405020304" pitchFamily="18" charset="0"/>
              </a:rPr>
              <a:t>Hyperparameter Optimization: Use grid search and cross-validation to improve model performance</a:t>
            </a:r>
          </a:p>
          <a:p>
            <a:r>
              <a:rPr lang="en-US" altLang="en-GB" sz="2000" dirty="0">
                <a:solidFill>
                  <a:schemeClr val="tx1"/>
                </a:solidFill>
                <a:latin typeface="Times New Roman" panose="02020603050405020304" pitchFamily="18" charset="0"/>
                <a:cs typeface="Times New Roman" panose="02020603050405020304" pitchFamily="18" charset="0"/>
              </a:rPr>
              <a:t>Model Evaluation: Evaluate using accuracy, precision, recall, F1-score, ROC-AUC</a:t>
            </a:r>
          </a:p>
          <a:p>
            <a:r>
              <a:rPr lang="en-US" altLang="en-GB" sz="2000" dirty="0">
                <a:solidFill>
                  <a:schemeClr val="tx1"/>
                </a:solidFill>
                <a:latin typeface="Times New Roman" panose="02020603050405020304" pitchFamily="18" charset="0"/>
                <a:cs typeface="Times New Roman" panose="02020603050405020304" pitchFamily="18" charset="0"/>
              </a:rPr>
              <a:t>Feature Analysis: Identify key indicators for heart disease risk</a:t>
            </a:r>
          </a:p>
          <a:p>
            <a:r>
              <a:rPr lang="en-US" altLang="en-GB" sz="2000" b="1" dirty="0">
                <a:solidFill>
                  <a:schemeClr val="tx1"/>
                </a:solidFill>
                <a:latin typeface="Times New Roman" panose="02020603050405020304" pitchFamily="18" charset="0"/>
                <a:cs typeface="Times New Roman" panose="02020603050405020304" pitchFamily="18" charset="0"/>
              </a:rPr>
              <a:t>Outcome:</a:t>
            </a:r>
          </a:p>
          <a:p>
            <a:r>
              <a:rPr lang="en-US" altLang="en-GB" sz="2000" dirty="0">
                <a:solidFill>
                  <a:schemeClr val="tx1"/>
                </a:solidFill>
                <a:latin typeface="Times New Roman" panose="02020603050405020304" pitchFamily="18" charset="0"/>
                <a:cs typeface="Times New Roman" panose="02020603050405020304" pitchFamily="18" charset="0"/>
              </a:rPr>
              <a:t>Accurate predictive models to support clinical decision-making and improve patient outcomes</a:t>
            </a:r>
            <a:r>
              <a:rPr lang="en-US" altLang="en-GB" sz="2000" dirty="0">
                <a:solidFill>
                  <a:schemeClr val="accent1">
                    <a:lumMod val="75000"/>
                  </a:schemeClr>
                </a:solidFill>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939155"/>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Data generation &amp; Loading</a:t>
            </a:r>
            <a:r>
              <a:rPr lang="en-US" altLang="en-GB" sz="4000" dirty="0">
                <a:solidFill>
                  <a:schemeClr val="accent1">
                    <a:lumMod val="75000"/>
                  </a:schemeClr>
                </a:solidFill>
                <a:latin typeface="Times New Roman" panose="02020603050405020304" pitchFamily="18" charset="0"/>
                <a:cs typeface="Times New Roman" panose="02020603050405020304" pitchFamily="18" charset="0"/>
              </a:rPr>
              <a:t> </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The project uses a comprehensive heart disease dataset sourced from publicly available clinical repositories.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It includes 400 patient records, each with 13 clinical features such as age, sex, cholesterol, blood pressure, and ECG results.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Data acquisition ensured no missing values, enabling a smoother preparation process.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The dataset was loaded into the environment using Python's Pandas library, allowing for efficient manipulation and analysis.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Initial data inspection confirmed correct data types and consistent formatting for all features.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Efficient data loading and validation lay the groundwork for subsequent data exploration and modeling</a:t>
            </a:r>
          </a:p>
          <a:p>
            <a:endParaRPr lang="en-US" altLang="en-GB" sz="20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754370"/>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Data Exploration &amp; Understanding</a:t>
            </a:r>
          </a:p>
          <a:p>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000" dirty="0">
                <a:solidFill>
                  <a:schemeClr val="tx1"/>
                </a:solidFill>
                <a:latin typeface="Times New Roman" panose="02020603050405020304" pitchFamily="18" charset="0"/>
                <a:cs typeface="Times New Roman" panose="02020603050405020304" pitchFamily="18" charset="0"/>
              </a:rPr>
              <a:t>•</a:t>
            </a:r>
            <a:r>
              <a:rPr lang="en-US" altLang="en-GB" sz="2400" dirty="0">
                <a:solidFill>
                  <a:schemeClr val="tx1"/>
                </a:solidFill>
                <a:latin typeface="Times New Roman" panose="02020603050405020304" pitchFamily="18" charset="0"/>
                <a:cs typeface="Times New Roman" panose="02020603050405020304" pitchFamily="18" charset="0"/>
              </a:rPr>
              <a:t>The dataset includes 13 features (age, sex, chest pain type, blood pressure, cholesterol, ECG, etc.), providing a broad view of heart health indicators.</a:t>
            </a:r>
          </a:p>
          <a:p>
            <a:endParaRPr lang="en-US" altLang="en-GB" sz="2400" dirty="0">
              <a:solidFill>
                <a:schemeClr val="tx1"/>
              </a:solidFill>
              <a:latin typeface="Times New Roman" panose="02020603050405020304" pitchFamily="18" charset="0"/>
              <a:cs typeface="Times New Roman" panose="02020603050405020304" pitchFamily="18" charset="0"/>
            </a:endParaRPr>
          </a:p>
          <a:p>
            <a:r>
              <a:rPr lang="en-US" altLang="en-GB" sz="2400" dirty="0">
                <a:solidFill>
                  <a:schemeClr val="tx1"/>
                </a:solidFill>
                <a:latin typeface="Times New Roman" panose="02020603050405020304" pitchFamily="18" charset="0"/>
                <a:cs typeface="Times New Roman" panose="02020603050405020304" pitchFamily="18" charset="0"/>
              </a:rPr>
              <a:t>•No missing values, stable ranges—e.g., age from 29 to 77, cholesterol from 120 to 564 mg/dl.</a:t>
            </a:r>
          </a:p>
          <a:p>
            <a:endParaRPr lang="en-US" altLang="en-GB" sz="2400" dirty="0">
              <a:solidFill>
                <a:schemeClr val="tx1"/>
              </a:solidFill>
              <a:latin typeface="Times New Roman" panose="02020603050405020304" pitchFamily="18" charset="0"/>
              <a:cs typeface="Times New Roman" panose="02020603050405020304" pitchFamily="18" charset="0"/>
            </a:endParaRPr>
          </a:p>
          <a:p>
            <a:r>
              <a:rPr lang="en-US" altLang="en-GB" sz="2400" dirty="0">
                <a:solidFill>
                  <a:schemeClr val="tx1"/>
                </a:solidFill>
                <a:latin typeface="Times New Roman" panose="02020603050405020304" pitchFamily="18" charset="0"/>
                <a:cs typeface="Times New Roman" panose="02020603050405020304" pitchFamily="18" charset="0"/>
              </a:rPr>
              <a:t>•Visual exploration revealed most patients are male and chest pain type 'asymptomatic' is most common.</a:t>
            </a:r>
          </a:p>
          <a:p>
            <a:endParaRPr lang="en-US" altLang="en-GB" sz="2400" dirty="0">
              <a:solidFill>
                <a:schemeClr val="tx1"/>
              </a:solidFill>
              <a:latin typeface="Times New Roman" panose="02020603050405020304" pitchFamily="18" charset="0"/>
              <a:cs typeface="Times New Roman" panose="02020603050405020304" pitchFamily="18" charset="0"/>
            </a:endParaRPr>
          </a:p>
          <a:p>
            <a:r>
              <a:rPr lang="en-US" altLang="en-GB" sz="2400" dirty="0">
                <a:solidFill>
                  <a:schemeClr val="tx1"/>
                </a:solidFill>
                <a:latin typeface="Times New Roman" panose="02020603050405020304" pitchFamily="18" charset="0"/>
                <a:cs typeface="Times New Roman" panose="02020603050405020304" pitchFamily="18" charset="0"/>
              </a:rPr>
              <a:t>•Key categorical and numerical features distributed evenly—ready for advanced</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GB" sz="2400" dirty="0">
                <a:solidFill>
                  <a:schemeClr val="tx1"/>
                </a:solidFill>
                <a:latin typeface="Times New Roman" panose="02020603050405020304" pitchFamily="18" charset="0"/>
                <a:cs typeface="Times New Roman" panose="02020603050405020304" pitchFamily="18" charset="0"/>
              </a:rPr>
              <a:t>analysis.</a:t>
            </a:r>
          </a:p>
          <a:p>
            <a:endParaRPr lang="en-US" altLang="en-GB" sz="24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631180"/>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Exploratory Data Analysis</a:t>
            </a:r>
            <a:endParaRPr lang="en-US" altLang="en-GB" sz="4000" dirty="0">
              <a:solidFill>
                <a:schemeClr val="accent1">
                  <a:lumMod val="75000"/>
                </a:schemeClr>
              </a:solidFill>
              <a:latin typeface="Times New Roman" panose="02020603050405020304" pitchFamily="18" charset="0"/>
              <a:cs typeface="Times New Roman" panose="02020603050405020304" pitchFamily="18" charset="0"/>
            </a:endParaRP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000" b="1" dirty="0">
                <a:solidFill>
                  <a:schemeClr val="tx1"/>
                </a:solidFill>
                <a:latin typeface="Times New Roman" panose="02020603050405020304" pitchFamily="18" charset="0"/>
                <a:cs typeface="Times New Roman" panose="02020603050405020304" pitchFamily="18" charset="0"/>
              </a:rPr>
              <a:t>1. Purpose of EDA:</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Understand the dataset and how features relate to heart disease</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Spot unusual values or outliers</a:t>
            </a:r>
          </a:p>
          <a:p>
            <a:r>
              <a:rPr lang="en-US" altLang="en-GB" sz="2000" b="1" dirty="0">
                <a:solidFill>
                  <a:schemeClr val="tx1"/>
                </a:solidFill>
                <a:latin typeface="Times New Roman" panose="02020603050405020304" pitchFamily="18" charset="0"/>
                <a:cs typeface="Times New Roman" panose="02020603050405020304" pitchFamily="18" charset="0"/>
              </a:rPr>
              <a:t>2. Target Variable Analysis:</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Check how many patients have heart disease (1) and how many don't (0)</a:t>
            </a:r>
          </a:p>
          <a:p>
            <a:r>
              <a:rPr lang="en-US" altLang="en-GB" sz="2000" b="1" dirty="0">
                <a:solidFill>
                  <a:schemeClr val="tx1"/>
                </a:solidFill>
                <a:latin typeface="Times New Roman" panose="02020603050405020304" pitchFamily="18" charset="0"/>
                <a:cs typeface="Times New Roman" panose="02020603050405020304" pitchFamily="18" charset="0"/>
              </a:rPr>
              <a:t>3. Feature Analysis</a:t>
            </a:r>
            <a:r>
              <a:rPr lang="en-US" altLang="en-GB" sz="2000" dirty="0">
                <a:solidFill>
                  <a:schemeClr val="tx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Numerical features: age, cholesterol, blood pressure, max heart rate, ST depression</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Categorical features: chest pain type, thalassemia, resting ECG, exercise-induced angina</a:t>
            </a:r>
          </a:p>
          <a:p>
            <a:r>
              <a:rPr lang="en-US" altLang="en-GB" sz="2000" b="1" dirty="0">
                <a:solidFill>
                  <a:schemeClr val="tx1"/>
                </a:solidFill>
                <a:latin typeface="Times New Roman" panose="02020603050405020304" pitchFamily="18" charset="0"/>
                <a:cs typeface="Times New Roman" panose="02020603050405020304" pitchFamily="18" charset="0"/>
              </a:rPr>
              <a:t>4. Correlation Analysis:</a:t>
            </a:r>
            <a:endParaRPr lang="en-US" altLang="en-GB" sz="20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Checked which features are strongly related to heart disease.</a:t>
            </a:r>
          </a:p>
          <a:p>
            <a:r>
              <a:rPr lang="en-US" altLang="en-GB" sz="2000" b="1" dirty="0">
                <a:solidFill>
                  <a:schemeClr val="tx1"/>
                </a:solidFill>
                <a:latin typeface="Times New Roman" panose="02020603050405020304" pitchFamily="18" charset="0"/>
                <a:cs typeface="Times New Roman" panose="02020603050405020304" pitchFamily="18" charset="0"/>
              </a:rPr>
              <a:t>5. Visuals to Show:</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Bar chart of target variable</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Heatmap of feature correlations</a:t>
            </a:r>
          </a:p>
          <a:p>
            <a:pPr marL="342900" indent="-342900">
              <a:buFont typeface="Arial" panose="020B0604020202020204" pitchFamily="34" charset="0"/>
              <a:buChar char="•"/>
            </a:pPr>
            <a:r>
              <a:rPr lang="en-US" altLang="en-GB" sz="2000" dirty="0">
                <a:solidFill>
                  <a:schemeClr val="tx1"/>
                </a:solidFill>
                <a:latin typeface="Times New Roman" panose="02020603050405020304" pitchFamily="18" charset="0"/>
                <a:cs typeface="Times New Roman" panose="02020603050405020304" pitchFamily="18" charset="0"/>
              </a:rPr>
              <a:t>Boxplots/histograms of numerical features</a:t>
            </a:r>
          </a:p>
          <a:p>
            <a:endParaRPr lang="en-US" altLang="en-GB" sz="20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286" y="566057"/>
            <a:ext cx="10417628" cy="5554345"/>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Data Preprocessing &amp; Feature Engineering</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Handle Missing Values: No missing data found</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Encode Categorical Variables: Converted chest pain, ECG, thal, etc. into numbers</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Feature Scaling: Standardized cholesterol, BP, max heart rate</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Data Splitting: 80% training, 20% testing</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Feature Selection: Chose important features based on correlation</a:t>
            </a:r>
          </a:p>
          <a:p>
            <a:endParaRPr lang="en-US" altLang="en-GB" sz="25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195" y="304800"/>
            <a:ext cx="10417810" cy="6815455"/>
          </a:xfrm>
          <a:prstGeom prst="rect">
            <a:avLst/>
          </a:prstGeom>
          <a:noFill/>
        </p:spPr>
        <p:txBody>
          <a:bodyPr wrap="square" rtlCol="0">
            <a:no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Model Building &amp; Training</a:t>
            </a:r>
          </a:p>
          <a:p>
            <a:r>
              <a:rPr lang="en-US" altLang="en-GB" sz="2000" b="1" dirty="0">
                <a:latin typeface="Times New Roman" panose="02020603050405020304" pitchFamily="18" charset="0"/>
                <a:cs typeface="Times New Roman" panose="02020603050405020304" pitchFamily="18" charset="0"/>
              </a:rPr>
              <a:t>Step 1: Initialize Models</a:t>
            </a:r>
          </a:p>
          <a:p>
            <a:r>
              <a:rPr lang="en-US" altLang="en-GB" sz="2000" dirty="0">
                <a:latin typeface="Times New Roman" panose="02020603050405020304" pitchFamily="18" charset="0"/>
                <a:cs typeface="Times New Roman" panose="02020603050405020304" pitchFamily="18" charset="0"/>
              </a:rPr>
              <a:t>Decision Tree </a:t>
            </a:r>
          </a:p>
          <a:p>
            <a:r>
              <a:rPr lang="en-US" altLang="en-GB" sz="2000" dirty="0">
                <a:latin typeface="Times New Roman" panose="02020603050405020304" pitchFamily="18" charset="0"/>
                <a:cs typeface="Times New Roman" panose="02020603050405020304" pitchFamily="18" charset="0"/>
              </a:rPr>
              <a:t>Random Forest </a:t>
            </a:r>
          </a:p>
          <a:p>
            <a:r>
              <a:rPr lang="en-US" altLang="en-GB" sz="2000" dirty="0">
                <a:latin typeface="Times New Roman" panose="02020603050405020304" pitchFamily="18" charset="0"/>
                <a:cs typeface="Times New Roman" panose="02020603050405020304" pitchFamily="18" charset="0"/>
              </a:rPr>
              <a:t>Logistic Regression </a:t>
            </a:r>
            <a:r>
              <a:rPr lang="en-US" altLang="en-US" sz="2000" dirty="0">
                <a:latin typeface="Times New Roman" panose="02020603050405020304" pitchFamily="18" charset="0"/>
                <a:cs typeface="Times New Roman" panose="02020603050405020304" pitchFamily="18" charset="0"/>
              </a:rPr>
              <a:t>️</a:t>
            </a:r>
            <a:endParaRPr lang="en-US" altLang="en-GB" sz="2000" dirty="0">
              <a:latin typeface="Times New Roman" panose="02020603050405020304" pitchFamily="18" charset="0"/>
              <a:cs typeface="Times New Roman" panose="02020603050405020304" pitchFamily="18" charset="0"/>
            </a:endParaRPr>
          </a:p>
          <a:p>
            <a:r>
              <a:rPr lang="en-US" altLang="en-GB" sz="2000" dirty="0">
                <a:latin typeface="Times New Roman" panose="02020603050405020304" pitchFamily="18" charset="0"/>
                <a:cs typeface="Times New Roman" panose="02020603050405020304" pitchFamily="18" charset="0"/>
              </a:rPr>
              <a:t>Support Vector Machine </a:t>
            </a:r>
            <a:r>
              <a:rPr lang="en-US" altLang="en-US" sz="2000" dirty="0">
                <a:latin typeface="Times New Roman" panose="02020603050405020304" pitchFamily="18" charset="0"/>
                <a:cs typeface="Times New Roman" panose="02020603050405020304" pitchFamily="18" charset="0"/>
              </a:rPr>
              <a:t>️</a:t>
            </a:r>
          </a:p>
          <a:p>
            <a:endParaRPr lang="en-US" altLang="en-GB" sz="2000" dirty="0">
              <a:latin typeface="Times New Roman" panose="02020603050405020304" pitchFamily="18" charset="0"/>
              <a:cs typeface="Times New Roman" panose="02020603050405020304" pitchFamily="18" charset="0"/>
            </a:endParaRPr>
          </a:p>
          <a:p>
            <a:r>
              <a:rPr lang="en-US" altLang="en-GB" sz="2000" b="1" dirty="0">
                <a:latin typeface="Times New Roman" panose="02020603050405020304" pitchFamily="18" charset="0"/>
                <a:cs typeface="Times New Roman" panose="02020603050405020304" pitchFamily="18" charset="0"/>
              </a:rPr>
              <a:t>Step 2: Train Models</a:t>
            </a:r>
          </a:p>
          <a:p>
            <a:r>
              <a:rPr lang="en-US" altLang="en-GB" sz="2000" dirty="0">
                <a:latin typeface="Times New Roman" panose="02020603050405020304" pitchFamily="18" charset="0"/>
                <a:cs typeface="Times New Roman" panose="02020603050405020304" pitchFamily="18" charset="0"/>
              </a:rPr>
              <a:t>Split dataset: 80% training, 20% testing</a:t>
            </a:r>
          </a:p>
          <a:p>
            <a:r>
              <a:rPr lang="en-US" altLang="en-GB" sz="2000" dirty="0">
                <a:latin typeface="Times New Roman" panose="02020603050405020304" pitchFamily="18" charset="0"/>
                <a:cs typeface="Times New Roman" panose="02020603050405020304" pitchFamily="18" charset="0"/>
              </a:rPr>
              <a:t>X_train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patient features (age, blood pressure, cholesterol…)</a:t>
            </a:r>
          </a:p>
          <a:p>
            <a:r>
              <a:rPr lang="en-US" altLang="en-GB" sz="2000" dirty="0">
                <a:latin typeface="Times New Roman" panose="02020603050405020304" pitchFamily="18" charset="0"/>
                <a:cs typeface="Times New Roman" panose="02020603050405020304" pitchFamily="18" charset="0"/>
              </a:rPr>
              <a:t>y_train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labels (0 = No disease, 1 = Heart disease)</a:t>
            </a:r>
          </a:p>
          <a:p>
            <a:endParaRPr lang="en-US" altLang="en-GB" sz="2000" dirty="0">
              <a:latin typeface="Times New Roman" panose="02020603050405020304" pitchFamily="18" charset="0"/>
              <a:cs typeface="Times New Roman" panose="02020603050405020304" pitchFamily="18" charset="0"/>
            </a:endParaRPr>
          </a:p>
          <a:p>
            <a:r>
              <a:rPr lang="en-US" altLang="en-GB" sz="2000" b="1" dirty="0">
                <a:latin typeface="Times New Roman" panose="02020603050405020304" pitchFamily="18" charset="0"/>
                <a:cs typeface="Times New Roman" panose="02020603050405020304" pitchFamily="18" charset="0"/>
              </a:rPr>
              <a:t>Step 3: Make Predictions</a:t>
            </a:r>
          </a:p>
          <a:p>
            <a:r>
              <a:rPr lang="en-US" altLang="en-GB" sz="2000" dirty="0">
                <a:latin typeface="Times New Roman" panose="02020603050405020304" pitchFamily="18" charset="0"/>
                <a:cs typeface="Times New Roman" panose="02020603050405020304" pitchFamily="18" charset="0"/>
              </a:rPr>
              <a:t>y_pred = model.predict(X_test)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Predict yes/no for new patients</a:t>
            </a:r>
          </a:p>
          <a:p>
            <a:r>
              <a:rPr lang="en-US" altLang="en-GB" sz="2000" dirty="0">
                <a:latin typeface="Times New Roman" panose="02020603050405020304" pitchFamily="18" charset="0"/>
                <a:cs typeface="Times New Roman" panose="02020603050405020304" pitchFamily="18" charset="0"/>
              </a:rPr>
              <a:t>y_prob = model.predict_proba(X_test)[:,1]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Gives probability of heart disease</a:t>
            </a:r>
          </a:p>
          <a:p>
            <a:endParaRPr lang="en-US" altLang="en-GB" sz="2000" b="1" dirty="0">
              <a:latin typeface="Times New Roman" panose="02020603050405020304" pitchFamily="18" charset="0"/>
              <a:cs typeface="Times New Roman" panose="02020603050405020304" pitchFamily="18" charset="0"/>
            </a:endParaRPr>
          </a:p>
          <a:p>
            <a:r>
              <a:rPr lang="en-US" altLang="en-GB" sz="2000" b="1" dirty="0">
                <a:latin typeface="Times New Roman" panose="02020603050405020304" pitchFamily="18" charset="0"/>
                <a:cs typeface="Times New Roman" panose="02020603050405020304" pitchFamily="18" charset="0"/>
              </a:rPr>
              <a:t>Step 4: Hyperparameter Tuning</a:t>
            </a:r>
          </a:p>
          <a:p>
            <a:r>
              <a:rPr lang="en-US" altLang="en-GB" sz="2000" dirty="0">
                <a:latin typeface="Times New Roman" panose="02020603050405020304" pitchFamily="18" charset="0"/>
                <a:cs typeface="Times New Roman" panose="02020603050405020304" pitchFamily="18" charset="0"/>
              </a:rPr>
              <a:t>Use GridSearchCV to find the best set of model parameters</a:t>
            </a:r>
          </a:p>
          <a:p>
            <a:r>
              <a:rPr lang="en-US" altLang="en-GB" sz="2000" dirty="0">
                <a:latin typeface="Times New Roman" panose="02020603050405020304" pitchFamily="18" charset="0"/>
                <a:cs typeface="Times New Roman" panose="02020603050405020304" pitchFamily="18" charset="0"/>
              </a:rPr>
              <a:t>Models retrained with optimal parameters </a:t>
            </a:r>
            <a:r>
              <a:rPr lang="en-US" altLang="en-US" sz="2000" dirty="0">
                <a:latin typeface="Times New Roman" panose="02020603050405020304" pitchFamily="18" charset="0"/>
                <a:cs typeface="Times New Roman" panose="02020603050405020304" pitchFamily="18" charset="0"/>
              </a:rPr>
              <a:t>→</a:t>
            </a:r>
            <a:r>
              <a:rPr lang="en-US" altLang="en-GB" sz="2000" dirty="0">
                <a:latin typeface="Times New Roman" panose="02020603050405020304" pitchFamily="18" charset="0"/>
                <a:cs typeface="Times New Roman" panose="02020603050405020304" pitchFamily="18" charset="0"/>
              </a:rPr>
              <a:t> improved accuracy and reliability</a:t>
            </a:r>
          </a:p>
          <a:p>
            <a:endParaRPr lang="en-US" altLang="en-GB"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195" y="304165"/>
            <a:ext cx="10417810" cy="6816090"/>
          </a:xfrm>
          <a:prstGeom prst="rect">
            <a:avLst/>
          </a:prstGeom>
          <a:noFill/>
        </p:spPr>
        <p:txBody>
          <a:bodyPr wrap="square" rtlCol="0">
            <a:no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Model Evaluation &amp; Performance Analysis</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000" b="1" dirty="0">
                <a:solidFill>
                  <a:schemeClr val="tx1"/>
                </a:solidFill>
                <a:latin typeface="Times New Roman" panose="02020603050405020304" pitchFamily="18" charset="0"/>
                <a:cs typeface="Times New Roman" panose="02020603050405020304" pitchFamily="18" charset="0"/>
              </a:rPr>
              <a:t>Step 1: Evaluation Metrics</a:t>
            </a:r>
          </a:p>
          <a:p>
            <a:r>
              <a:rPr lang="en-US" altLang="en-GB" sz="2000" dirty="0">
                <a:solidFill>
                  <a:schemeClr val="tx1"/>
                </a:solidFill>
                <a:latin typeface="Times New Roman" panose="02020603050405020304" pitchFamily="18" charset="0"/>
                <a:cs typeface="Times New Roman" panose="02020603050405020304" pitchFamily="18" charset="0"/>
              </a:rPr>
              <a:t>Accuracy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How many predictions were correct</a:t>
            </a:r>
          </a:p>
          <a:p>
            <a:r>
              <a:rPr lang="en-US" altLang="en-GB" sz="2000" dirty="0">
                <a:solidFill>
                  <a:schemeClr val="tx1"/>
                </a:solidFill>
                <a:latin typeface="Times New Roman" panose="02020603050405020304" pitchFamily="18" charset="0"/>
                <a:cs typeface="Times New Roman" panose="02020603050405020304" pitchFamily="18" charset="0"/>
              </a:rPr>
              <a:t>Precision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How many predicted heart disease cases were actually correct</a:t>
            </a:r>
          </a:p>
          <a:p>
            <a:r>
              <a:rPr lang="en-US" altLang="en-GB" sz="2000" dirty="0">
                <a:solidFill>
                  <a:schemeClr val="tx1"/>
                </a:solidFill>
                <a:latin typeface="Times New Roman" panose="02020603050405020304" pitchFamily="18" charset="0"/>
                <a:cs typeface="Times New Roman" panose="02020603050405020304" pitchFamily="18" charset="0"/>
              </a:rPr>
              <a:t>Recall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How many actual heart disease cases were identified</a:t>
            </a:r>
          </a:p>
          <a:p>
            <a:r>
              <a:rPr lang="en-US" altLang="en-GB" sz="2000" dirty="0">
                <a:solidFill>
                  <a:schemeClr val="tx1"/>
                </a:solidFill>
                <a:latin typeface="Times New Roman" panose="02020603050405020304" pitchFamily="18" charset="0"/>
                <a:cs typeface="Times New Roman" panose="02020603050405020304" pitchFamily="18" charset="0"/>
              </a:rPr>
              <a:t>F1-Score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Balance between Precision &amp; Recall</a:t>
            </a:r>
          </a:p>
          <a:p>
            <a:r>
              <a:rPr lang="en-US" altLang="en-GB" sz="2000" dirty="0">
                <a:solidFill>
                  <a:schemeClr val="tx1"/>
                </a:solidFill>
                <a:latin typeface="Times New Roman" panose="02020603050405020304" pitchFamily="18" charset="0"/>
                <a:cs typeface="Times New Roman" panose="02020603050405020304" pitchFamily="18" charset="0"/>
              </a:rPr>
              <a:t>ROC-AUC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Measures model’s ability to rank patients from least to most likely to have disease</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b="1" dirty="0">
                <a:solidFill>
                  <a:schemeClr val="tx1"/>
                </a:solidFill>
                <a:latin typeface="Times New Roman" panose="02020603050405020304" pitchFamily="18" charset="0"/>
                <a:cs typeface="Times New Roman" panose="02020603050405020304" pitchFamily="18" charset="0"/>
              </a:rPr>
              <a:t>Step 2: Confusion Matrix</a:t>
            </a:r>
          </a:p>
          <a:p>
            <a:r>
              <a:rPr lang="en-US" altLang="en-GB" sz="2000" dirty="0">
                <a:solidFill>
                  <a:schemeClr val="tx1"/>
                </a:solidFill>
                <a:latin typeface="Times New Roman" panose="02020603050405020304" pitchFamily="18" charset="0"/>
                <a:cs typeface="Times New Roman" panose="02020603050405020304" pitchFamily="18" charset="0"/>
              </a:rPr>
              <a:t>Shows True Positives, True Negatives, False Positives, False Negatives</a:t>
            </a:r>
          </a:p>
          <a:p>
            <a:r>
              <a:rPr lang="en-US" altLang="en-GB" sz="2000" dirty="0">
                <a:solidFill>
                  <a:schemeClr val="tx1"/>
                </a:solidFill>
                <a:latin typeface="Times New Roman" panose="02020603050405020304" pitchFamily="18" charset="0"/>
                <a:cs typeface="Times New Roman" panose="02020603050405020304" pitchFamily="18" charset="0"/>
              </a:rPr>
              <a:t>Helps understand where the model is making mistakes</a:t>
            </a:r>
          </a:p>
          <a:p>
            <a:endParaRPr lang="en-US" altLang="en-GB" sz="2000" dirty="0">
              <a:solidFill>
                <a:schemeClr val="tx1"/>
              </a:solidFill>
              <a:latin typeface="Times New Roman" panose="02020603050405020304" pitchFamily="18" charset="0"/>
              <a:cs typeface="Times New Roman" panose="02020603050405020304" pitchFamily="18" charset="0"/>
            </a:endParaRPr>
          </a:p>
          <a:p>
            <a:r>
              <a:rPr lang="en-US" altLang="en-GB" sz="2000" b="1" dirty="0">
                <a:solidFill>
                  <a:schemeClr val="tx1"/>
                </a:solidFill>
                <a:latin typeface="Times New Roman" panose="02020603050405020304" pitchFamily="18" charset="0"/>
                <a:cs typeface="Times New Roman" panose="02020603050405020304" pitchFamily="18" charset="0"/>
              </a:rPr>
              <a:t>Step 3: Feature Importance</a:t>
            </a:r>
          </a:p>
          <a:p>
            <a:r>
              <a:rPr lang="en-US" altLang="en-GB" sz="2000" dirty="0">
                <a:solidFill>
                  <a:schemeClr val="tx1"/>
                </a:solidFill>
                <a:latin typeface="Times New Roman" panose="02020603050405020304" pitchFamily="18" charset="0"/>
                <a:cs typeface="Times New Roman" panose="02020603050405020304" pitchFamily="18" charset="0"/>
              </a:rPr>
              <a:t>Decision Tree &amp; Random Forest </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GB" sz="2000" dirty="0">
                <a:solidFill>
                  <a:schemeClr val="tx1"/>
                </a:solidFill>
                <a:latin typeface="Times New Roman" panose="02020603050405020304" pitchFamily="18" charset="0"/>
                <a:cs typeface="Times New Roman" panose="02020603050405020304" pitchFamily="18" charset="0"/>
              </a:rPr>
              <a:t> Identify which features most impact predictions</a:t>
            </a:r>
          </a:p>
          <a:p>
            <a:r>
              <a:rPr lang="en-US" altLang="en-GB" sz="2000" dirty="0">
                <a:solidFill>
                  <a:schemeClr val="tx1"/>
                </a:solidFill>
                <a:latin typeface="Times New Roman" panose="02020603050405020304" pitchFamily="18" charset="0"/>
                <a:cs typeface="Times New Roman" panose="02020603050405020304" pitchFamily="18" charset="0"/>
              </a:rPr>
              <a:t>Example: Chest pain type, maximum heart rate, cholesterol</a:t>
            </a:r>
          </a:p>
          <a:p>
            <a:r>
              <a:rPr lang="en-US" altLang="en-GB" sz="2000" b="1" dirty="0">
                <a:solidFill>
                  <a:schemeClr val="tx1"/>
                </a:solidFill>
                <a:latin typeface="Times New Roman" panose="02020603050405020304" pitchFamily="18" charset="0"/>
                <a:cs typeface="Times New Roman" panose="02020603050405020304" pitchFamily="18" charset="0"/>
              </a:rPr>
              <a:t>Step 4: Performance Summary</a:t>
            </a:r>
          </a:p>
          <a:p>
            <a:r>
              <a:rPr lang="en-US" altLang="en-GB" sz="2000" dirty="0">
                <a:solidFill>
                  <a:schemeClr val="tx1"/>
                </a:solidFill>
                <a:latin typeface="Times New Roman" panose="02020603050405020304" pitchFamily="18" charset="0"/>
                <a:cs typeface="Times New Roman" panose="02020603050405020304" pitchFamily="18" charset="0"/>
              </a:rPr>
              <a:t>Compare all models on metrics above</a:t>
            </a:r>
          </a:p>
          <a:p>
            <a:r>
              <a:rPr lang="en-US" altLang="en-GB" sz="2000" dirty="0">
                <a:solidFill>
                  <a:schemeClr val="tx1"/>
                </a:solidFill>
                <a:latin typeface="Times New Roman" panose="02020603050405020304" pitchFamily="18" charset="0"/>
                <a:cs typeface="Times New Roman" panose="02020603050405020304" pitchFamily="18" charset="0"/>
              </a:rPr>
              <a:t>Best performing model chosen based on ROC-AUC and F1-Score</a:t>
            </a:r>
          </a:p>
          <a:p>
            <a:endParaRPr lang="en-US" altLang="en-GB" sz="20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195" y="565785"/>
            <a:ext cx="11267440" cy="5169535"/>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Stream API Deployment</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Build Python apps quickly with app.py.</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Run locally: streamlit run app.py.</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Deploy on: Streamlit Cloud, Heroku, or AWS/GCP/Azure.</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Pros: Easy, fast setup, no frontend needed.</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Cons: Limited customization, not for heavy APIs.</a:t>
            </a:r>
          </a:p>
          <a:p>
            <a:endParaRPr lang="en-US" altLang="en-GB" sz="25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pic>
        <p:nvPicPr>
          <p:cNvPr id="3" name="Picture 2"/>
          <p:cNvPicPr>
            <a:picLocks noChangeAspect="1"/>
          </p:cNvPicPr>
          <p:nvPr/>
        </p:nvPicPr>
        <p:blipFill>
          <a:blip r:embed="rId3"/>
          <a:stretch>
            <a:fillRect/>
          </a:stretch>
        </p:blipFill>
        <p:spPr>
          <a:xfrm>
            <a:off x="8528685" y="1972310"/>
            <a:ext cx="3282315" cy="2679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4040" y="565785"/>
            <a:ext cx="11685270" cy="5477510"/>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r>
              <a:rPr lang="en-IN" sz="4000" dirty="0">
                <a:solidFill>
                  <a:schemeClr val="accent1">
                    <a:lumMod val="75000"/>
                  </a:schemeClr>
                </a:solidFill>
                <a:latin typeface="Times New Roman" panose="02020603050405020304" pitchFamily="18" charset="0"/>
                <a:cs typeface="Times New Roman" panose="02020603050405020304" pitchFamily="18" charset="0"/>
              </a:rPr>
              <a:t>Docker Deployment</a:t>
            </a: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endParaRPr lang="en-US" altLang="en-GB" sz="2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Package app + dependencies in containers.</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Steps: Write Dockerfile </a:t>
            </a:r>
            <a:r>
              <a:rPr lang="en-US" altLang="en-US" sz="2500" dirty="0">
                <a:solidFill>
                  <a:schemeClr val="tx1"/>
                </a:solidFill>
                <a:latin typeface="Times New Roman" panose="02020603050405020304" pitchFamily="18" charset="0"/>
                <a:cs typeface="Times New Roman" panose="02020603050405020304" pitchFamily="18" charset="0"/>
              </a:rPr>
              <a:t>→</a:t>
            </a:r>
            <a:r>
              <a:rPr lang="en-US" altLang="en-GB" sz="2500" dirty="0">
                <a:solidFill>
                  <a:schemeClr val="tx1"/>
                </a:solidFill>
                <a:latin typeface="Times New Roman" panose="02020603050405020304" pitchFamily="18" charset="0"/>
                <a:cs typeface="Times New Roman" panose="02020603050405020304" pitchFamily="18" charset="0"/>
              </a:rPr>
              <a:t> docker build </a:t>
            </a:r>
            <a:r>
              <a:rPr lang="en-US" altLang="en-US" sz="2500" dirty="0">
                <a:solidFill>
                  <a:schemeClr val="tx1"/>
                </a:solidFill>
                <a:latin typeface="Times New Roman" panose="02020603050405020304" pitchFamily="18" charset="0"/>
                <a:cs typeface="Times New Roman" panose="02020603050405020304" pitchFamily="18" charset="0"/>
              </a:rPr>
              <a:t>→</a:t>
            </a:r>
            <a:r>
              <a:rPr lang="en-US" altLang="en-GB" sz="2500" dirty="0">
                <a:solidFill>
                  <a:schemeClr val="tx1"/>
                </a:solidFill>
                <a:latin typeface="Times New Roman" panose="02020603050405020304" pitchFamily="18" charset="0"/>
                <a:cs typeface="Times New Roman" panose="02020603050405020304" pitchFamily="18" charset="0"/>
              </a:rPr>
              <a:t> docker run.</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Deploy via Docker Hub, AWS ECS, GCP, Azure, or Kubernetes.</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Pros: Portable, scalable, consistent environment.</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Cons: Learning curve, needs orchestration at scale.</a:t>
            </a:r>
          </a:p>
          <a:p>
            <a:endParaRPr lang="en-US" altLang="en-GB" sz="25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5195" y="565785"/>
            <a:ext cx="10977245" cy="5939155"/>
          </a:xfrm>
          <a:prstGeom prst="rect">
            <a:avLst/>
          </a:prstGeom>
          <a:noFill/>
        </p:spPr>
        <p:txBody>
          <a:bodyPr wrap="square" rtlCol="0">
            <a:spAutoFit/>
          </a:bodyPr>
          <a:lstStyle/>
          <a:p>
            <a:r>
              <a:rPr lang="en-IN" sz="4000" dirty="0">
                <a:solidFill>
                  <a:schemeClr val="accent1">
                    <a:lumMod val="75000"/>
                  </a:schemeClr>
                </a:solidFill>
                <a:latin typeface="Times New Roman" panose="02020603050405020304" pitchFamily="18" charset="0"/>
                <a:cs typeface="Times New Roman" panose="02020603050405020304" pitchFamily="18" charset="0"/>
              </a:rPr>
              <a:t>Conclusion</a:t>
            </a:r>
          </a:p>
          <a:p>
            <a:endParaRPr lang="en-IN" sz="4000" dirty="0">
              <a:solidFill>
                <a:schemeClr val="accent1">
                  <a:lumMod val="75000"/>
                </a:schemeClr>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In conclusion, our capstone project demonstrated the powerful role of machine learning in healthcare. By applying classification algorithms to clinical diagnostic data, we were able to achieve strong predictive performance in identifying patients at risk of heart disease.</a:t>
            </a:r>
          </a:p>
          <a:p>
            <a:endParaRPr lang="en-US" altLang="en-GB" sz="2500" dirty="0">
              <a:solidFill>
                <a:schemeClr val="tx1"/>
              </a:solidFill>
              <a:latin typeface="Times New Roman" panose="02020603050405020304" pitchFamily="18" charset="0"/>
              <a:cs typeface="Times New Roman" panose="02020603050405020304" pitchFamily="18" charset="0"/>
            </a:endParaRPr>
          </a:p>
          <a:p>
            <a:r>
              <a:rPr lang="en-US" altLang="en-GB" sz="2500" dirty="0">
                <a:solidFill>
                  <a:schemeClr val="tx1"/>
                </a:solidFill>
                <a:latin typeface="Times New Roman" panose="02020603050405020304" pitchFamily="18" charset="0"/>
                <a:cs typeface="Times New Roman" panose="02020603050405020304" pitchFamily="18" charset="0"/>
              </a:rPr>
              <a:t>Key insights include:</a:t>
            </a: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Early and accurate prediction of heart disease is feasible with machine learning.</a:t>
            </a: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Certain features, such as cholesterol, chest pain type, and maximum heart rate, play a critical role in prediction.</a:t>
            </a:r>
          </a:p>
          <a:p>
            <a:pPr marL="342900" indent="-342900">
              <a:buFont typeface="Arial" panose="020B0604020202020204" pitchFamily="34" charset="0"/>
              <a:buChar char="•"/>
            </a:pPr>
            <a:r>
              <a:rPr lang="en-US" altLang="en-GB" sz="2500" dirty="0">
                <a:solidFill>
                  <a:schemeClr val="tx1"/>
                </a:solidFill>
                <a:latin typeface="Times New Roman" panose="02020603050405020304" pitchFamily="18" charset="0"/>
                <a:cs typeface="Times New Roman" panose="02020603050405020304" pitchFamily="18" charset="0"/>
              </a:rPr>
              <a:t>Optimized models can serve as a decision-support tool for healthcare providers, improving efficiency and patient outcomes.</a:t>
            </a:r>
          </a:p>
          <a:p>
            <a:pPr marL="342900" indent="-342900">
              <a:buFont typeface="Arial" panose="020B0604020202020204" pitchFamily="34" charset="0"/>
              <a:buChar char="•"/>
            </a:pPr>
            <a:endParaRPr lang="en-US" altLang="en-GB" sz="2500" dirty="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232571" y="304800"/>
            <a:ext cx="1578429" cy="10559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1323</Words>
  <Application>Microsoft Office PowerPoint</Application>
  <PresentationFormat>Widescreen</PresentationFormat>
  <Paragraphs>174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Anantason Bold</vt:lpstr>
      <vt:lpstr>Arial</vt:lpstr>
      <vt:lpstr>Calibri</vt:lpstr>
      <vt:lpstr>Calibri Light</vt:lpstr>
      <vt:lpstr>Times New Roman</vt:lpstr>
      <vt:lpstr>Office Theme</vt:lpstr>
      <vt:lpstr>     Capstone Project2 HEART DISEASE DETECTION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TNS INDIA FOUNDATION</dc:creator>
  <cp:lastModifiedBy>manoj hr</cp:lastModifiedBy>
  <cp:revision>11</cp:revision>
  <dcterms:created xsi:type="dcterms:W3CDTF">2025-09-02T04:26:00Z</dcterms:created>
  <dcterms:modified xsi:type="dcterms:W3CDTF">2026-02-23T07:34:25Z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4215A8468C814C4E9813C862E1C7C80B_12</vt:lpwstr>
  </property>
  <property fmtid="{D5CDD505-2E9C-101B-9397-08002B2CF9AE}" pid="3" name="KSOProductBuildVer">
    <vt:lpwstr>1033-12.2.0.22549</vt:lpwstr>
  </property>
</Properties>
</file>