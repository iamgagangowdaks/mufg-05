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0" name="Google Shape;90;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6" name="Google Shape;96;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 name="Shape 106"/>
        <p:cNvGrpSpPr/>
        <p:nvPr/>
      </p:nvGrpSpPr>
      <p:grpSpPr>
        <a:xfrm>
          <a:off x="0" y="0"/>
          <a:ext cx="0" cy="0"/>
          <a:chOff x="0" y="0"/>
          <a:chExt cx="0" cy="0"/>
        </a:xfrm>
      </p:grpSpPr>
      <p:sp>
        <p:nvSpPr>
          <p:cNvPr id="107" name="Google Shape;107;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8" name="Google Shape;108;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5" name="Google Shape;115;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2" name="Google Shape;122;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 name="Shape 127"/>
        <p:cNvGrpSpPr/>
        <p:nvPr/>
      </p:nvGrpSpPr>
      <p:grpSpPr>
        <a:xfrm>
          <a:off x="0" y="0"/>
          <a:ext cx="0" cy="0"/>
          <a:chOff x="0" y="0"/>
          <a:chExt cx="0" cy="0"/>
        </a:xfrm>
      </p:grpSpPr>
      <p:sp>
        <p:nvSpPr>
          <p:cNvPr id="128" name="Google Shape;128;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9" name="Google Shape;129;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6" name="Google Shape;136;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g38cdb4fd196_2_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3" name="Google Shape;143;g38cdb4fd196_2_2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0" name="Google Shape;150;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4" name="Shape 154"/>
        <p:cNvGrpSpPr/>
        <p:nvPr/>
      </p:nvGrpSpPr>
      <p:grpSpPr>
        <a:xfrm>
          <a:off x="0" y="0"/>
          <a:ext cx="0" cy="0"/>
          <a:chOff x="0" y="0"/>
          <a:chExt cx="0" cy="0"/>
        </a:xfrm>
      </p:grpSpPr>
      <p:sp>
        <p:nvSpPr>
          <p:cNvPr id="155" name="Google Shape;155;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6" name="Google Shape;156;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2" name="Google Shape;162;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8" name="Google Shape;168;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16"/>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6"/>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1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7"/>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1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19"/>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9"/>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19"/>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1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20"/>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0"/>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0"/>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0"/>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0"/>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2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2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3"/>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type="pic" idx="2"/>
          </p:nvPr>
        </p:nvSpPr>
        <p:spPr>
          <a:xfrm>
            <a:off x="5183188" y="987425"/>
            <a:ext cx="6172200" cy="4873625"/>
          </a:xfrm>
          <a:prstGeom prst="rect">
            <a:avLst/>
          </a:prstGeom>
          <a:noFill/>
          <a:ln>
            <a:noFill/>
          </a:ln>
        </p:spPr>
      </p:sp>
      <p:sp>
        <p:nvSpPr>
          <p:cNvPr id="64" name="Google Shape;64;p24"/>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2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2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2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2870212"/>
            <a:ext cx="9144000" cy="1654500"/>
          </a:xfrm>
          <a:prstGeom prst="rect">
            <a:avLst/>
          </a:prstGeom>
          <a:noFill/>
          <a:ln>
            <a:noFill/>
          </a:ln>
        </p:spPr>
        <p:txBody>
          <a:bodyPr spcFirstLastPara="1" wrap="square" lIns="91425" tIns="45700" rIns="91425" bIns="45700" anchor="b" anchorCtr="0">
            <a:noAutofit/>
          </a:bodyPr>
          <a:lstStyle/>
          <a:p>
            <a:pPr marL="0" lvl="0" indent="0" algn="ctr" rtl="0">
              <a:lnSpc>
                <a:spcPct val="200000"/>
              </a:lnSpc>
              <a:spcBef>
                <a:spcPts val="0"/>
              </a:spcBef>
              <a:spcAft>
                <a:spcPts val="0"/>
              </a:spcAft>
              <a:buClr>
                <a:srgbClr val="0C3571"/>
              </a:buClr>
              <a:buSzPts val="2800"/>
              <a:buFont typeface="Anta"/>
              <a:buNone/>
            </a:pPr>
            <a:br>
              <a:rPr lang="en-IN" sz="2800" b="1">
                <a:solidFill>
                  <a:srgbClr val="0C3571"/>
                </a:solidFill>
                <a:latin typeface="Anta"/>
                <a:ea typeface="Anta"/>
                <a:cs typeface="Anta"/>
                <a:sym typeface="Anta"/>
              </a:rPr>
            </a:br>
            <a:br>
              <a:rPr lang="en-IN" sz="2800" b="1">
                <a:solidFill>
                  <a:srgbClr val="0C3571"/>
                </a:solidFill>
                <a:latin typeface="Anta"/>
                <a:ea typeface="Anta"/>
                <a:cs typeface="Anta"/>
                <a:sym typeface="Anta"/>
              </a:rPr>
            </a:br>
            <a:br>
              <a:rPr lang="en-IN" sz="2800" b="1">
                <a:solidFill>
                  <a:srgbClr val="0C3571"/>
                </a:solidFill>
                <a:latin typeface="Anta"/>
                <a:ea typeface="Anta"/>
                <a:cs typeface="Anta"/>
                <a:sym typeface="Anta"/>
              </a:rPr>
            </a:br>
            <a:br>
              <a:rPr lang="en-IN" sz="2800" b="1">
                <a:solidFill>
                  <a:srgbClr val="0C3571"/>
                </a:solidFill>
                <a:latin typeface="Anta"/>
                <a:ea typeface="Anta"/>
                <a:cs typeface="Anta"/>
                <a:sym typeface="Anta"/>
              </a:rPr>
            </a:br>
            <a:br>
              <a:rPr lang="en-IN" sz="2800" b="1">
                <a:solidFill>
                  <a:srgbClr val="0C3571"/>
                </a:solidFill>
                <a:latin typeface="Anta"/>
                <a:ea typeface="Anta"/>
                <a:cs typeface="Anta"/>
                <a:sym typeface="Anta"/>
              </a:rPr>
            </a:br>
            <a:r>
              <a:rPr lang="en-IN" sz="4400" b="1">
                <a:solidFill>
                  <a:srgbClr val="0C3571"/>
                </a:solidFill>
                <a:latin typeface="Times New Roman" panose="02020603050405020304"/>
                <a:ea typeface="Times New Roman" panose="02020603050405020304"/>
                <a:cs typeface="Times New Roman" panose="02020603050405020304"/>
                <a:sym typeface="Times New Roman" panose="02020603050405020304"/>
              </a:rPr>
              <a:t>Capstone Project 1 </a:t>
            </a:r>
            <a:br>
              <a:rPr lang="en-IN" sz="4400" b="1">
                <a:solidFill>
                  <a:srgbClr val="0C3571"/>
                </a:solidFill>
                <a:latin typeface="Times New Roman" panose="02020603050405020304"/>
                <a:ea typeface="Times New Roman" panose="02020603050405020304"/>
                <a:cs typeface="Times New Roman" panose="02020603050405020304"/>
                <a:sym typeface="Times New Roman" panose="02020603050405020304"/>
              </a:rPr>
            </a:br>
            <a:r>
              <a:rPr lang="en-IN" sz="2400" b="1">
                <a:solidFill>
                  <a:srgbClr val="C00000"/>
                </a:solidFill>
                <a:latin typeface="Times New Roman" panose="02020603050405020304"/>
                <a:ea typeface="Times New Roman" panose="02020603050405020304"/>
                <a:cs typeface="Times New Roman" panose="02020603050405020304"/>
                <a:sym typeface="Times New Roman" panose="02020603050405020304"/>
              </a:rPr>
              <a:t>“MANUFACTURING  EQUIPMENT  OUTPUT PREDICTION  WITH  LINEAR  REGRESSION”</a:t>
            </a:r>
            <a:endParaRPr sz="2400" b="1">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200000"/>
              </a:lnSpc>
              <a:spcBef>
                <a:spcPts val="0"/>
              </a:spcBef>
              <a:spcAft>
                <a:spcPts val="0"/>
              </a:spcAft>
              <a:buClr>
                <a:srgbClr val="0C3571"/>
              </a:buClr>
              <a:buSzPts val="2800"/>
              <a:buFont typeface="Anta"/>
              <a:buNone/>
            </a:pPr>
            <a:endParaRPr sz="2300" b="1">
              <a:solidFill>
                <a:srgbClr val="0C3571"/>
              </a:solidFill>
              <a:latin typeface="Arial" panose="020B0604020202020204"/>
              <a:ea typeface="Arial" panose="020B0604020202020204"/>
              <a:cs typeface="Arial" panose="020B0604020202020204"/>
              <a:sym typeface="Arial" panose="020B0604020202020204"/>
            </a:endParaRPr>
          </a:p>
          <a:p>
            <a:pPr marL="0" lvl="0" indent="0" algn="ctr" rtl="0">
              <a:lnSpc>
                <a:spcPct val="200000"/>
              </a:lnSpc>
              <a:spcBef>
                <a:spcPts val="0"/>
              </a:spcBef>
              <a:spcAft>
                <a:spcPts val="0"/>
              </a:spcAft>
              <a:buClr>
                <a:srgbClr val="0C3571"/>
              </a:buClr>
              <a:buSzPts val="2800"/>
              <a:buFont typeface="Anta"/>
              <a:buNone/>
            </a:pPr>
            <a:br>
              <a:rPr lang="en-IN" sz="1400" b="1">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14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5" name="Google Shape;85;p1"/>
          <p:cNvSpPr txBox="1"/>
          <p:nvPr/>
        </p:nvSpPr>
        <p:spPr>
          <a:xfrm>
            <a:off x="7522028" y="4225385"/>
            <a:ext cx="4125600" cy="27368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0"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rPr>
              <a:t>Team Members</a:t>
            </a:r>
            <a:endParaRPr lang="en-IN" sz="3200" b="0"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T120100510</a:t>
            </a:r>
            <a:r>
              <a:rPr lang="en-IN" sz="2000">
                <a:solidFill>
                  <a:schemeClr val="tx1"/>
                </a:solidFill>
                <a:latin typeface="Times New Roman" panose="02020603050405020304"/>
                <a:ea typeface="Times New Roman" panose="02020603050405020304"/>
                <a:cs typeface="Times New Roman" panose="02020603050405020304"/>
                <a:sym typeface="Times New Roman" panose="02020603050405020304"/>
              </a:rPr>
              <a:t>: Gagan Gowda K S</a:t>
            </a:r>
            <a:endParaRPr lang="en-IN"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T120100520</a:t>
            </a:r>
            <a:r>
              <a:rPr lang="en-IN" sz="200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Manoj H R</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T120100522</a:t>
            </a:r>
            <a:r>
              <a:rPr lang="en-IN" sz="200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Srinivas T R</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T120100532</a:t>
            </a:r>
            <a:r>
              <a:rPr lang="en-IN" sz="200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Akash Kumar NS</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T120100538</a:t>
            </a:r>
            <a:r>
              <a:rPr lang="en-IN" sz="200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Nithin M</a:t>
            </a:r>
            <a:r>
              <a:rPr lang="en-IN" sz="200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endParaRPr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T120100541</a:t>
            </a:r>
            <a:r>
              <a:rPr lang="en-IN" sz="200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Gagan V K</a:t>
            </a:r>
            <a:r>
              <a:rPr lang="en-IN" sz="200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endParaRPr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86" name="Google Shape;86;p1"/>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87" name="Google Shape;87;p1"/>
          <p:cNvSpPr txBox="1"/>
          <p:nvPr/>
        </p:nvSpPr>
        <p:spPr>
          <a:xfrm>
            <a:off x="0" y="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sp>
        <p:nvSpPr>
          <p:cNvPr id="92" name="Google Shape;92;p2"/>
          <p:cNvSpPr txBox="1"/>
          <p:nvPr/>
        </p:nvSpPr>
        <p:spPr>
          <a:xfrm>
            <a:off x="925286" y="566057"/>
            <a:ext cx="10417500" cy="6003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a:solidFill>
                  <a:schemeClr val="dk1"/>
                </a:solidFill>
                <a:latin typeface="Times New Roman" panose="02020603050405020304"/>
                <a:ea typeface="Times New Roman" panose="02020603050405020304"/>
                <a:cs typeface="Times New Roman" panose="02020603050405020304"/>
                <a:sym typeface="Times New Roman" panose="02020603050405020304"/>
              </a:rPr>
              <a:t>Table of Contents</a:t>
            </a:r>
            <a:endParaRPr lang="en-IN" sz="4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Overview of the Project</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Data generation &amp; Loading</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Data Exploration &amp; Understanding</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Exploratory Data Analysis</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Data Preprocessing &amp; Feature Engineering</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Model Building &amp; Training</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Model Evaluation &amp; Performance Analysis</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Stream API Deployment (Streamlit)</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Docker Deployment</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spcBef>
                <a:spcPts val="0"/>
              </a:spcBef>
              <a:spcAft>
                <a:spcPts val="0"/>
              </a:spcAft>
              <a:buClr>
                <a:srgbClr val="2F5496"/>
              </a:buClr>
              <a:buSzPts val="2800"/>
              <a:buFont typeface="Arial" panose="020B0604020202020204"/>
              <a:buChar char="•"/>
            </a:pPr>
            <a:r>
              <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rPr>
              <a:t>Conclusion</a:t>
            </a: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lang="en-IN" sz="2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3" name="Google Shape;93;p2"/>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sp>
        <p:nvSpPr>
          <p:cNvPr id="98" name="Google Shape;98;p3"/>
          <p:cNvSpPr txBox="1"/>
          <p:nvPr/>
        </p:nvSpPr>
        <p:spPr>
          <a:xfrm>
            <a:off x="925195" y="565785"/>
            <a:ext cx="10417810" cy="63296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28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Problem Statement</a:t>
            </a:r>
            <a:endParaRPr sz="28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30000"/>
              </a:lnSpc>
              <a:spcBef>
                <a:spcPts val="0"/>
              </a:spcBef>
              <a:spcAft>
                <a:spcPts val="0"/>
              </a:spcAft>
              <a:buClr>
                <a:schemeClr val="dk1"/>
              </a:buClr>
              <a:buSzPts val="1100"/>
              <a:buFont typeface="Arial" panose="020B0604020202020204"/>
              <a:buNone/>
            </a:pPr>
            <a:r>
              <a:rPr lang="en-US" altLang="en-GB" sz="24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a:ea typeface="Times New Roman" panose="02020603050405020304"/>
                <a:cs typeface="Times New Roman" panose="02020603050405020304"/>
                <a:sym typeface="Times New Roman" panose="02020603050405020304"/>
              </a:rPr>
              <a:t>Manufacturing industries rely on injection molding machines to produce plastic components efficiently and consistently. However, variations in machine operating conditions, material characteristics, and human factors often lead to fluctuations in production output.</a:t>
            </a:r>
            <a:endParaRPr lang="en-US" altLang="en-GB" sz="24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30000"/>
              </a:lnSpc>
              <a:spcBef>
                <a:spcPts val="0"/>
              </a:spcBef>
              <a:spcAft>
                <a:spcPts val="0"/>
              </a:spcAft>
              <a:buClr>
                <a:schemeClr val="dk1"/>
              </a:buClr>
              <a:buSzPts val="1100"/>
              <a:buFont typeface="Arial" panose="020B0604020202020204"/>
              <a:buNone/>
            </a:pPr>
            <a:r>
              <a:rPr lang="en-US" altLang="en-GB" sz="24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a:ea typeface="Times New Roman" panose="02020603050405020304"/>
                <a:cs typeface="Times New Roman" panose="02020603050405020304"/>
                <a:sym typeface="Times New Roman" panose="02020603050405020304"/>
              </a:rPr>
              <a:t>The challenge is to accurately estimate the number of parts produced per hour based on machine parameters such as temperature, pressure, cycle time, cooling duration, material viscosity, and operator experience.</a:t>
            </a:r>
            <a:endParaRPr lang="en-US" altLang="en-GB" sz="24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30000"/>
              </a:lnSpc>
              <a:spcBef>
                <a:spcPts val="0"/>
              </a:spcBef>
              <a:spcAft>
                <a:spcPts val="0"/>
              </a:spcAft>
              <a:buClr>
                <a:schemeClr val="dk1"/>
              </a:buClr>
              <a:buSzPts val="1100"/>
              <a:buFont typeface="Arial" panose="020B0604020202020204"/>
              <a:buNone/>
            </a:pPr>
            <a:r>
              <a:rPr lang="en-US" altLang="en-GB" sz="24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a:ea typeface="Times New Roman" panose="02020603050405020304"/>
                <a:cs typeface="Times New Roman" panose="02020603050405020304"/>
                <a:sym typeface="Times New Roman" panose="02020603050405020304"/>
              </a:rPr>
              <a:t>An effective prediction system will help manufacturers optimize machine configurations, reduce downtime, detect performance issues early, and improve overall production planning.</a:t>
            </a:r>
            <a:endParaRPr lang="en-US" altLang="en-GB" sz="24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endParaRPr sz="24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1200"/>
              </a:spcBef>
              <a:spcAft>
                <a:spcPts val="0"/>
              </a:spcAft>
              <a:buNone/>
            </a:pPr>
            <a:endParaRPr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9" name="Google Shape;99;p3"/>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104" name="Google Shape;104;p4"/>
          <p:cNvSpPr txBox="1"/>
          <p:nvPr/>
        </p:nvSpPr>
        <p:spPr>
          <a:xfrm>
            <a:off x="249475" y="136050"/>
            <a:ext cx="11255400" cy="57994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2800" b="1">
                <a:solidFill>
                  <a:srgbClr val="2F5496"/>
                </a:solidFill>
                <a:latin typeface="Times New Roman" panose="02020603050405020304"/>
                <a:ea typeface="Times New Roman" panose="02020603050405020304"/>
                <a:cs typeface="Times New Roman" panose="02020603050405020304"/>
                <a:sym typeface="Times New Roman" panose="02020603050405020304"/>
              </a:rPr>
              <a:t>Overview of the Project</a:t>
            </a:r>
            <a:endParaRPr sz="28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8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just" rtl="0">
              <a:lnSpc>
                <a:spcPct val="150000"/>
              </a:lnSpc>
              <a:spcBef>
                <a:spcPts val="0"/>
              </a:spcBef>
              <a:spcAft>
                <a:spcPts val="0"/>
              </a:spcAft>
              <a:buClr>
                <a:srgbClr val="0C3571"/>
              </a:buClr>
              <a:buSzPts val="2200"/>
              <a:buFont typeface="Times New Roman" panose="02020603050405020304"/>
              <a:buChar char="●"/>
            </a:pPr>
            <a:r>
              <a:rPr lang="en-US" altLang="en-GB" sz="2200">
                <a:solidFill>
                  <a:schemeClr val="dk1"/>
                </a:solidFill>
                <a:latin typeface="Times New Roman" panose="02020603050405020304"/>
                <a:ea typeface="Times New Roman" panose="02020603050405020304"/>
                <a:cs typeface="Times New Roman" panose="02020603050405020304"/>
                <a:sym typeface="Times New Roman" panose="02020603050405020304"/>
              </a:rPr>
              <a:t>This project focuses on predicting the hourly production output of injection molding machines using Linear Regression techniques.</a:t>
            </a:r>
            <a:endParaRPr lang="en-US" altLang="en-GB"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just" rtl="0">
              <a:lnSpc>
                <a:spcPct val="150000"/>
              </a:lnSpc>
              <a:spcBef>
                <a:spcPts val="0"/>
              </a:spcBef>
              <a:spcAft>
                <a:spcPts val="0"/>
              </a:spcAft>
              <a:buClr>
                <a:srgbClr val="0C3571"/>
              </a:buClr>
              <a:buSzPts val="2200"/>
              <a:buFont typeface="Times New Roman" panose="02020603050405020304"/>
              <a:buChar char="●"/>
            </a:pPr>
            <a:r>
              <a:rPr lang="en-US" altLang="en-GB" sz="2200">
                <a:solidFill>
                  <a:schemeClr val="dk1"/>
                </a:solidFill>
                <a:latin typeface="Times New Roman" panose="02020603050405020304"/>
                <a:ea typeface="Times New Roman" panose="02020603050405020304"/>
                <a:cs typeface="Times New Roman" panose="02020603050405020304"/>
                <a:sym typeface="Times New Roman" panose="02020603050405020304"/>
              </a:rPr>
              <a:t>A structured machine learning pipeline is developed, starting from synthetic data generation to model deployment. The workflow includes data understanding, preprocessing, feature engineering, model training, evaluation, and deployment.</a:t>
            </a:r>
            <a:endParaRPr lang="en-US" altLang="en-GB"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just" rtl="0">
              <a:lnSpc>
                <a:spcPct val="150000"/>
              </a:lnSpc>
              <a:spcBef>
                <a:spcPts val="0"/>
              </a:spcBef>
              <a:spcAft>
                <a:spcPts val="0"/>
              </a:spcAft>
              <a:buClr>
                <a:srgbClr val="0C3571"/>
              </a:buClr>
              <a:buSzPts val="2200"/>
              <a:buFont typeface="Times New Roman" panose="02020603050405020304"/>
              <a:buChar char="●"/>
            </a:pPr>
            <a:r>
              <a:rPr lang="en-US" altLang="en-GB" sz="2200">
                <a:solidFill>
                  <a:schemeClr val="dk1"/>
                </a:solidFill>
                <a:latin typeface="Times New Roman" panose="02020603050405020304"/>
                <a:ea typeface="Times New Roman" panose="02020603050405020304"/>
                <a:cs typeface="Times New Roman" panose="02020603050405020304"/>
                <a:sym typeface="Times New Roman" panose="02020603050405020304"/>
              </a:rPr>
              <a:t>Multiple regression models such as Linear Regression, Ridge, and Lasso are trained and compared to identify the most reliable predictor.</a:t>
            </a:r>
            <a:endParaRPr lang="en-US" altLang="en-GB"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just" rtl="0">
              <a:lnSpc>
                <a:spcPct val="150000"/>
              </a:lnSpc>
              <a:spcBef>
                <a:spcPts val="0"/>
              </a:spcBef>
              <a:spcAft>
                <a:spcPts val="0"/>
              </a:spcAft>
              <a:buClr>
                <a:srgbClr val="0C3571"/>
              </a:buClr>
              <a:buSzPts val="2200"/>
              <a:buFont typeface="Times New Roman" panose="02020603050405020304"/>
              <a:buChar char="●"/>
            </a:pPr>
            <a:r>
              <a:rPr lang="en-US" altLang="en-GB" sz="2200">
                <a:solidFill>
                  <a:schemeClr val="dk1"/>
                </a:solidFill>
                <a:latin typeface="Times New Roman" panose="02020603050405020304"/>
                <a:ea typeface="Times New Roman" panose="02020603050405020304"/>
                <a:cs typeface="Times New Roman" panose="02020603050405020304"/>
                <a:sym typeface="Times New Roman" panose="02020603050405020304"/>
              </a:rPr>
              <a:t>The final solution enables real-time production forecasting and supports data-driven decision-making in manufacturing operations.</a:t>
            </a:r>
            <a:endParaRPr lang="en-US" altLang="en-GB"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05" name="Google Shape;105;p4"/>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9" name="Shape 109"/>
        <p:cNvGrpSpPr/>
        <p:nvPr/>
      </p:nvGrpSpPr>
      <p:grpSpPr>
        <a:xfrm>
          <a:off x="0" y="0"/>
          <a:ext cx="0" cy="0"/>
          <a:chOff x="0" y="0"/>
          <a:chExt cx="0" cy="0"/>
        </a:xfrm>
      </p:grpSpPr>
      <p:sp>
        <p:nvSpPr>
          <p:cNvPr id="110" name="Google Shape;110;p5"/>
          <p:cNvSpPr txBox="1"/>
          <p:nvPr/>
        </p:nvSpPr>
        <p:spPr>
          <a:xfrm>
            <a:off x="925275" y="193903"/>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rPr>
              <a:t>Data generation &amp; Loading</a:t>
            </a:r>
            <a:endPar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11" name="Google Shape;111;p5"/>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12" name="Google Shape;112;p5"/>
          <p:cNvSpPr txBox="1"/>
          <p:nvPr/>
        </p:nvSpPr>
        <p:spPr>
          <a:xfrm>
            <a:off x="335465" y="1340235"/>
            <a:ext cx="10811700" cy="5334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60000"/>
              </a:lnSpc>
              <a:spcBef>
                <a:spcPts val="0"/>
              </a:spcBef>
              <a:spcAft>
                <a:spcPts val="0"/>
              </a:spcAft>
              <a:buNone/>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A synthetic manufacturing dataset is created to simulate real-world injection molding operations.</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Contains 5,000+ hourly production records</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Values generated within realistic industrial operating ranges</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Stored in CSV format for easy reuse and reproducibility</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r>
              <a:rPr lang="en-US" altLang="en-GB" sz="2400" b="1">
                <a:solidFill>
                  <a:schemeClr val="tx1"/>
                </a:solidFill>
                <a:latin typeface="Times New Roman" panose="02020603050405020304"/>
                <a:ea typeface="Times New Roman" panose="02020603050405020304"/>
                <a:cs typeface="Times New Roman" panose="02020603050405020304"/>
                <a:sym typeface="Times New Roman" panose="02020603050405020304"/>
              </a:rPr>
              <a:t>Target Variable</a:t>
            </a: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60000"/>
              </a:lnSpc>
              <a:spcBef>
                <a:spcPts val="0"/>
              </a:spcBef>
              <a:spcAft>
                <a:spcPts val="0"/>
              </a:spcAft>
              <a:buFont typeface="Arial" panose="020B0604020202020204" pitchFamily="34" charset="0"/>
              <a:buChar char="•"/>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Parts produced per hour</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r>
              <a:rPr lang="en-US" altLang="en-GB" sz="2400" b="1">
                <a:solidFill>
                  <a:schemeClr val="tx1"/>
                </a:solidFill>
                <a:latin typeface="Times New Roman" panose="02020603050405020304"/>
                <a:ea typeface="Times New Roman" panose="02020603050405020304"/>
                <a:cs typeface="Times New Roman" panose="02020603050405020304"/>
                <a:sym typeface="Times New Roman" panose="02020603050405020304"/>
              </a:rPr>
              <a:t>Input Features Include:</a:t>
            </a:r>
            <a:endParaRPr lang="en-US" altLang="en-GB" sz="2400" b="1">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60000"/>
              </a:lnSpc>
              <a:spcBef>
                <a:spcPts val="0"/>
              </a:spcBef>
              <a:spcAft>
                <a:spcPts val="0"/>
              </a:spcAft>
              <a:buFont typeface="Arial" panose="020B0604020202020204" pitchFamily="34" charset="0"/>
              <a:buChar char="•"/>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Machine parameters (temperature, pressure, cycle time, cooling time)</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60000"/>
              </a:lnSpc>
              <a:spcBef>
                <a:spcPts val="0"/>
              </a:spcBef>
              <a:spcAft>
                <a:spcPts val="0"/>
              </a:spcAft>
              <a:buFont typeface="Arial" panose="020B0604020202020204" pitchFamily="34" charset="0"/>
              <a:buChar char="•"/>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60000"/>
              </a:lnSpc>
              <a:spcBef>
                <a:spcPts val="0"/>
              </a:spcBef>
              <a:spcAft>
                <a:spcPts val="0"/>
              </a:spcAft>
              <a:buFont typeface="Arial" panose="020B0604020202020204" pitchFamily="34" charset="0"/>
              <a:buChar char="•"/>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Material properties (viscosity)</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60000"/>
              </a:lnSpc>
              <a:spcBef>
                <a:spcPts val="0"/>
              </a:spcBef>
              <a:spcAft>
                <a:spcPts val="0"/>
              </a:spcAft>
              <a:buFont typeface="Arial" panose="020B0604020202020204" pitchFamily="34" charset="0"/>
              <a:buChar char="•"/>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60000"/>
              </a:lnSpc>
              <a:spcBef>
                <a:spcPts val="0"/>
              </a:spcBef>
              <a:spcAft>
                <a:spcPts val="0"/>
              </a:spcAft>
              <a:buFont typeface="Arial" panose="020B0604020202020204" pitchFamily="34" charset="0"/>
              <a:buChar char="•"/>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Environmental conditions (ambient temperature)</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60000"/>
              </a:lnSpc>
              <a:spcBef>
                <a:spcPts val="0"/>
              </a:spcBef>
              <a:spcAft>
                <a:spcPts val="0"/>
              </a:spcAft>
              <a:buFont typeface="Arial" panose="020B0604020202020204" pitchFamily="34" charset="0"/>
              <a:buChar char="•"/>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60000"/>
              </a:lnSpc>
              <a:spcBef>
                <a:spcPts val="0"/>
              </a:spcBef>
              <a:spcAft>
                <a:spcPts val="0"/>
              </a:spcAft>
              <a:buFont typeface="Arial" panose="020B0604020202020204" pitchFamily="34" charset="0"/>
              <a:buChar char="•"/>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Equipment and operator-related attributes</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70000"/>
              </a:lnSpc>
              <a:spcBef>
                <a:spcPts val="0"/>
              </a:spcBef>
              <a:spcAft>
                <a:spcPts val="0"/>
              </a:spcAft>
              <a:buFont typeface="Arial" panose="020B0604020202020204" pitchFamily="34" charset="0"/>
              <a:buChar char="•"/>
            </a:pPr>
            <a:endParaRPr lang="en-US" altLang="en-GB"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Font typeface="Arial" panose="020B0604020202020204" pitchFamily="34" charset="0"/>
              <a:buNone/>
            </a:pPr>
            <a:endParaRPr lang="en-US" altLang="en-GB" sz="2400">
              <a:solidFill>
                <a:srgbClr val="0C357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6" name="Shape 116"/>
        <p:cNvGrpSpPr/>
        <p:nvPr/>
      </p:nvGrpSpPr>
      <p:grpSpPr>
        <a:xfrm>
          <a:off x="0" y="0"/>
          <a:ext cx="0" cy="0"/>
          <a:chOff x="0" y="0"/>
          <a:chExt cx="0" cy="0"/>
        </a:xfrm>
      </p:grpSpPr>
      <p:sp>
        <p:nvSpPr>
          <p:cNvPr id="117" name="Google Shape;117;p6"/>
          <p:cNvSpPr txBox="1"/>
          <p:nvPr/>
        </p:nvSpPr>
        <p:spPr>
          <a:xfrm>
            <a:off x="925286" y="566057"/>
            <a:ext cx="10417628" cy="12618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rPr>
              <a:t>Data Exploration &amp; Understanding</a:t>
            </a:r>
            <a:endPar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18" name="Google Shape;118;p6"/>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19" name="Google Shape;119;p6"/>
          <p:cNvSpPr txBox="1"/>
          <p:nvPr/>
        </p:nvSpPr>
        <p:spPr>
          <a:xfrm>
            <a:off x="487325" y="1603975"/>
            <a:ext cx="11005200" cy="4776300"/>
          </a:xfrm>
          <a:prstGeom prst="rect">
            <a:avLst/>
          </a:prstGeom>
          <a:noFill/>
          <a:ln>
            <a:noFill/>
          </a:ln>
        </p:spPr>
        <p:txBody>
          <a:bodyPr spcFirstLastPara="1" wrap="square" lIns="91425" tIns="91425" rIns="91425" bIns="91425" anchor="t" anchorCtr="0">
            <a:noAutofit/>
          </a:bodyPr>
          <a:lstStyle/>
          <a:p>
            <a:pPr marL="0" lvl="0" indent="0" algn="just" rtl="0">
              <a:lnSpc>
                <a:spcPct val="90000"/>
              </a:lnSpc>
              <a:spcBef>
                <a:spcPts val="0"/>
              </a:spcBef>
              <a:spcAft>
                <a:spcPts val="0"/>
              </a:spcAft>
              <a:buClr>
                <a:schemeClr val="dk1"/>
              </a:buClr>
              <a:buSzPts val="1100"/>
              <a:buFont typeface="Arial" panose="020B0604020202020204"/>
              <a:buNone/>
            </a:pP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Before modeling, the dataset is examined to understand its structure and behavior.</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Dataset Type:</a:t>
            </a: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 Synthetic manufacturing dataset inspired by real industrial conditions</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Dataset Size:</a:t>
            </a: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 Over 5,000 records with hourly machine performance data</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Target Column:</a:t>
            </a: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 Parts Produced Per Hour</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Key Feature Categories:</a:t>
            </a:r>
            <a:endPar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Machine Settings:</a:t>
            </a: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 Injection temperature, injection pressure, cycle time, cooling time</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Material &amp; Environment:</a:t>
            </a: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 Material viscosity, ambient temperature</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Operational Factors: </a:t>
            </a: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Machine age, maintenance hours, operator experience</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This step ensures clarity on feature relevance and data consistency.</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3" name="Shape 123"/>
        <p:cNvGrpSpPr/>
        <p:nvPr/>
      </p:nvGrpSpPr>
      <p:grpSpPr>
        <a:xfrm>
          <a:off x="0" y="0"/>
          <a:ext cx="0" cy="0"/>
          <a:chOff x="0" y="0"/>
          <a:chExt cx="0" cy="0"/>
        </a:xfrm>
      </p:grpSpPr>
      <p:sp>
        <p:nvSpPr>
          <p:cNvPr id="124" name="Google Shape;124;p7"/>
          <p:cNvSpPr txBox="1"/>
          <p:nvPr/>
        </p:nvSpPr>
        <p:spPr>
          <a:xfrm>
            <a:off x="533825" y="155513"/>
            <a:ext cx="10417500" cy="141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1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700">
                <a:solidFill>
                  <a:srgbClr val="2F5496"/>
                </a:solidFill>
                <a:latin typeface="Times New Roman" panose="02020603050405020304"/>
                <a:ea typeface="Times New Roman" panose="02020603050405020304"/>
                <a:cs typeface="Times New Roman" panose="02020603050405020304"/>
                <a:sym typeface="Times New Roman" panose="02020603050405020304"/>
              </a:rPr>
              <a:t>Exploratory Data Analysis</a:t>
            </a:r>
            <a:endParaRPr sz="2100"/>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25" name="Google Shape;125;p7"/>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26" name="Google Shape;126;p7"/>
          <p:cNvSpPr txBox="1"/>
          <p:nvPr/>
        </p:nvSpPr>
        <p:spPr>
          <a:xfrm>
            <a:off x="394335" y="1541145"/>
            <a:ext cx="11416665" cy="5317490"/>
          </a:xfrm>
          <a:prstGeom prst="rect">
            <a:avLst/>
          </a:prstGeom>
          <a:noFill/>
          <a:ln>
            <a:noFill/>
          </a:ln>
        </p:spPr>
        <p:txBody>
          <a:bodyPr spcFirstLastPara="1" wrap="square" lIns="91425" tIns="91425" rIns="91425" bIns="91425" anchor="t" anchorCtr="0">
            <a:noAutofit/>
          </a:bodyPr>
          <a:lstStyle/>
          <a:p>
            <a:pPr marL="12700" lvl="0" indent="-12700" algn="just" rtl="0">
              <a:lnSpc>
                <a:spcPct val="100000"/>
              </a:lnSpc>
              <a:spcBef>
                <a:spcPts val="0"/>
              </a:spcBef>
              <a:spcAft>
                <a:spcPts val="0"/>
              </a:spcAft>
              <a:buClr>
                <a:schemeClr val="dk1"/>
              </a:buClr>
              <a:buSzPts val="1100"/>
              <a:buFont typeface="Arial" panose="020B0604020202020204"/>
              <a:buNone/>
            </a:pPr>
            <a:r>
              <a:rPr lang="en-IN" sz="2000">
                <a:solidFill>
                  <a:schemeClr val="tx1"/>
                </a:solidFill>
                <a:latin typeface="Times New Roman" panose="02020603050405020304"/>
                <a:ea typeface="Times New Roman" panose="02020603050405020304"/>
                <a:cs typeface="Times New Roman" panose="02020603050405020304"/>
                <a:sym typeface="Times New Roman" panose="02020603050405020304"/>
              </a:rPr>
              <a:t>•</a:t>
            </a: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EDA is performed to uncover hidden patterns and relationships in the data.</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Distribution Analysis: Histograms used to observe feature spread and skewness</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Correlation Analysis: Heatmaps identify strong and weak relationships between variables</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Scatter Plots: Show how individual parameters impact production output</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r>
              <a:rPr lang="en-US" altLang="en-GB" sz="2000" b="1">
                <a:solidFill>
                  <a:schemeClr val="tx1"/>
                </a:solidFill>
                <a:latin typeface="Times New Roman" panose="02020603050405020304"/>
                <a:ea typeface="Times New Roman" panose="02020603050405020304"/>
                <a:cs typeface="Times New Roman" panose="02020603050405020304"/>
                <a:sym typeface="Times New Roman" panose="02020603050405020304"/>
              </a:rPr>
              <a:t>Insights Identified:</a:t>
            </a:r>
            <a:endParaRPr lang="en-US" altLang="en-GB" sz="2000" b="1">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Reduced cycle time generally increases hourly output</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Skilled operators contribute to improved productivity</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Cooling time requires optimization to balance speed and product quality</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lvl="0" indent="-12700" algn="just" rtl="0">
              <a:lnSpc>
                <a:spcPct val="100000"/>
              </a:lnSpc>
              <a:spcBef>
                <a:spcPts val="0"/>
              </a:spcBef>
              <a:spcAft>
                <a:spcPts val="0"/>
              </a:spcAft>
              <a:buClr>
                <a:schemeClr val="dk1"/>
              </a:buClr>
              <a:buSzPts val="1100"/>
              <a:buFont typeface="Arial" panose="020B0604020202020204"/>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These insights guide feature engineering and model selection.</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0" name="Shape 130"/>
        <p:cNvGrpSpPr/>
        <p:nvPr/>
      </p:nvGrpSpPr>
      <p:grpSpPr>
        <a:xfrm>
          <a:off x="0" y="0"/>
          <a:ext cx="0" cy="0"/>
          <a:chOff x="0" y="0"/>
          <a:chExt cx="0" cy="0"/>
        </a:xfrm>
      </p:grpSpPr>
      <p:sp>
        <p:nvSpPr>
          <p:cNvPr id="131" name="Google Shape;131;p8"/>
          <p:cNvSpPr txBox="1"/>
          <p:nvPr/>
        </p:nvSpPr>
        <p:spPr>
          <a:xfrm>
            <a:off x="519300" y="304800"/>
            <a:ext cx="10417500" cy="130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300">
                <a:solidFill>
                  <a:srgbClr val="2F5496"/>
                </a:solidFill>
                <a:latin typeface="Times New Roman" panose="02020603050405020304"/>
                <a:ea typeface="Times New Roman" panose="02020603050405020304"/>
                <a:cs typeface="Times New Roman" panose="02020603050405020304"/>
                <a:sym typeface="Times New Roman" panose="02020603050405020304"/>
              </a:rPr>
              <a:t>Data Preprocessing &amp; Feature Engineering</a:t>
            </a:r>
            <a:endParaRPr sz="1700"/>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32" name="Google Shape;132;p8"/>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33" name="Google Shape;133;p8"/>
          <p:cNvSpPr txBox="1"/>
          <p:nvPr/>
        </p:nvSpPr>
        <p:spPr>
          <a:xfrm>
            <a:off x="292735" y="1412240"/>
            <a:ext cx="11265535" cy="5295900"/>
          </a:xfrm>
          <a:prstGeom prst="rect">
            <a:avLst/>
          </a:prstGeom>
          <a:noFill/>
          <a:ln>
            <a:noFill/>
          </a:ln>
        </p:spPr>
        <p:txBody>
          <a:bodyPr spcFirstLastPara="1" wrap="square" lIns="91425" tIns="91425" rIns="91425" bIns="91425" anchor="t" anchorCtr="0">
            <a:noAutofit/>
          </a:bodyPr>
          <a:lstStyle/>
          <a:p>
            <a:pPr marL="0" lvl="0" indent="0" algn="just" rtl="0">
              <a:lnSpc>
                <a:spcPct val="90000"/>
              </a:lnSpc>
              <a:spcBef>
                <a:spcPts val="0"/>
              </a:spcBef>
              <a:spcAft>
                <a:spcPts val="0"/>
              </a:spcAft>
              <a:buClr>
                <a:schemeClr val="dk1"/>
              </a:buClr>
              <a:buSzPts val="1100"/>
              <a:buFont typeface="Arial" panose="020B0604020202020204"/>
              <a:buNone/>
            </a:pPr>
            <a:r>
              <a:rPr lang="en-US" altLang="en-GB" sz="1800" b="1">
                <a:solidFill>
                  <a:schemeClr val="tx1"/>
                </a:solidFill>
                <a:latin typeface="Times New Roman" panose="02020603050405020304"/>
                <a:ea typeface="Times New Roman" panose="02020603050405020304"/>
                <a:cs typeface="Times New Roman" panose="02020603050405020304"/>
                <a:sym typeface="Times New Roman" panose="02020603050405020304"/>
              </a:rPr>
              <a:t>Outlier Treatment:</a:t>
            </a:r>
            <a:endParaRPr lang="en-US" altLang="en-GB" sz="1800" b="1">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rPr>
              <a:t>Extreme values are handled using the IQR method to reduce noise</a:t>
            </a: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rPr>
              <a:t>Feature Engineering:</a:t>
            </a: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rPr>
              <a:t>New derived features are created to better represent machine efficiency</a:t>
            </a: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1800" b="1">
                <a:solidFill>
                  <a:schemeClr val="tx1"/>
                </a:solidFill>
                <a:latin typeface="Times New Roman" panose="02020603050405020304"/>
                <a:ea typeface="Times New Roman" panose="02020603050405020304"/>
                <a:cs typeface="Times New Roman" panose="02020603050405020304"/>
                <a:sym typeface="Times New Roman" panose="02020603050405020304"/>
              </a:rPr>
              <a:t>Feature Scaling:</a:t>
            </a:r>
            <a:endParaRPr lang="en-US" altLang="en-GB" sz="1800" b="1">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rPr>
              <a:t>Numerical variables are standardized to ensure fair model learning</a:t>
            </a: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1800" b="1">
                <a:solidFill>
                  <a:schemeClr val="tx1"/>
                </a:solidFill>
                <a:latin typeface="Times New Roman" panose="02020603050405020304"/>
                <a:ea typeface="Times New Roman" panose="02020603050405020304"/>
                <a:cs typeface="Times New Roman" panose="02020603050405020304"/>
                <a:sym typeface="Times New Roman" panose="02020603050405020304"/>
              </a:rPr>
              <a:t>Train-Test Split:</a:t>
            </a:r>
            <a:endParaRPr lang="en-US" altLang="en-GB" sz="1800" b="1">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rPr>
              <a:t>Dataset divided into 80% training and 20% testing sets</a:t>
            </a: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rPr>
              <a:t>Fixed random state ensures reproducibility</a:t>
            </a: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Clr>
                <a:schemeClr val="dk1"/>
              </a:buClr>
              <a:buSzPts val="1100"/>
              <a:buFont typeface="Arial" panose="020B0604020202020204"/>
              <a:buNone/>
            </a:pPr>
            <a:r>
              <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rPr>
              <a:t>These steps prepare clean, reliable input data for modeling.</a:t>
            </a: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9"/>
          <p:cNvSpPr txBox="1"/>
          <p:nvPr/>
        </p:nvSpPr>
        <p:spPr>
          <a:xfrm>
            <a:off x="416236" y="201819"/>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rPr>
              <a:t>Model Building &amp; Training</a:t>
            </a:r>
            <a:endPar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39" name="Google Shape;139;p9"/>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40" name="Google Shape;140;p9"/>
          <p:cNvSpPr txBox="1"/>
          <p:nvPr/>
        </p:nvSpPr>
        <p:spPr>
          <a:xfrm>
            <a:off x="234800" y="1179300"/>
            <a:ext cx="11576100" cy="5495925"/>
          </a:xfrm>
          <a:prstGeom prst="rect">
            <a:avLst/>
          </a:prstGeom>
          <a:noFill/>
          <a:ln>
            <a:noFill/>
          </a:ln>
        </p:spPr>
        <p:txBody>
          <a:bodyPr spcFirstLastPara="1" wrap="square" lIns="91425" tIns="91425" rIns="91425" bIns="91425" anchor="t" anchorCtr="0">
            <a:spAutoFit/>
          </a:bodyPr>
          <a:lstStyle/>
          <a:p>
            <a:pPr marL="76200" lvl="0" indent="0" algn="just" rtl="0">
              <a:lnSpc>
                <a:spcPct val="90000"/>
              </a:lnSpc>
              <a:spcBef>
                <a:spcPts val="0"/>
              </a:spcBef>
              <a:spcAft>
                <a:spcPts val="0"/>
              </a:spcAft>
              <a:buClr>
                <a:srgbClr val="2F5496"/>
              </a:buClr>
              <a:buSzPts val="2400"/>
              <a:buNone/>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Different regression models are trained to predict machine output:</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r>
              <a:rPr lang="en-US" altLang="en-GB" sz="2400" b="1">
                <a:solidFill>
                  <a:schemeClr val="tx1"/>
                </a:solidFill>
                <a:latin typeface="Times New Roman" panose="02020603050405020304"/>
                <a:ea typeface="Times New Roman" panose="02020603050405020304"/>
                <a:cs typeface="Times New Roman" panose="02020603050405020304"/>
                <a:sym typeface="Times New Roman" panose="02020603050405020304"/>
              </a:rPr>
              <a:t>Linear Regression:</a:t>
            </a:r>
            <a:endParaRPr lang="en-US" altLang="en-GB" sz="2400" b="1">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Establishes a baseline model with interpretable coefficients</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r>
              <a:rPr lang="en-US" altLang="en-GB" sz="2400" b="1">
                <a:solidFill>
                  <a:schemeClr val="tx1"/>
                </a:solidFill>
                <a:latin typeface="Times New Roman" panose="02020603050405020304"/>
                <a:ea typeface="Times New Roman" panose="02020603050405020304"/>
                <a:cs typeface="Times New Roman" panose="02020603050405020304"/>
                <a:sym typeface="Times New Roman" panose="02020603050405020304"/>
              </a:rPr>
              <a:t>Ridge Regression:</a:t>
            </a:r>
            <a:endParaRPr lang="en-US" altLang="en-GB" sz="2400" b="1">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Controls overfitting by penalizing large coefficients</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r>
              <a:rPr lang="en-US" altLang="en-GB" sz="2400" b="1">
                <a:solidFill>
                  <a:schemeClr val="tx1"/>
                </a:solidFill>
                <a:latin typeface="Times New Roman" panose="02020603050405020304"/>
                <a:ea typeface="Times New Roman" panose="02020603050405020304"/>
                <a:cs typeface="Times New Roman" panose="02020603050405020304"/>
                <a:sym typeface="Times New Roman" panose="02020603050405020304"/>
              </a:rPr>
              <a:t>Lasso Regression:</a:t>
            </a:r>
            <a:endParaRPr lang="en-US" altLang="en-GB" sz="2400" b="1">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Performs feature selection by shrinking less important features to zero</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lnSpc>
                <a:spcPct val="90000"/>
              </a:lnSpc>
              <a:spcBef>
                <a:spcPts val="0"/>
              </a:spcBef>
              <a:spcAft>
                <a:spcPts val="0"/>
              </a:spcAft>
              <a:buClr>
                <a:srgbClr val="2F5496"/>
              </a:buClr>
              <a:buSzPts val="2400"/>
              <a:buNone/>
            </a:pPr>
            <a:r>
              <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rPr>
              <a:t>Each model is trained using the training dataset and evaluated on unseen test data to ensure generalization.</a:t>
            </a:r>
            <a:endParaRPr lang="en-US" altLang="en-GB" sz="24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g38cdb4fd196_2_27"/>
          <p:cNvSpPr txBox="1"/>
          <p:nvPr/>
        </p:nvSpPr>
        <p:spPr>
          <a:xfrm>
            <a:off x="887261" y="201719"/>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rPr>
              <a:t>Model Evaluation &amp; Performance Analysis</a:t>
            </a:r>
            <a:endPar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46" name="Google Shape;146;g38cdb4fd196_2_27"/>
          <p:cNvPicPr preferRelativeResize="0"/>
          <p:nvPr/>
        </p:nvPicPr>
        <p:blipFill rotWithShape="1">
          <a:blip r:embed="rId1"/>
          <a:srcRect/>
          <a:stretch>
            <a:fillRect/>
          </a:stretch>
        </p:blipFill>
        <p:spPr>
          <a:xfrm>
            <a:off x="10232571" y="304800"/>
            <a:ext cx="1578429" cy="1055914"/>
          </a:xfrm>
          <a:prstGeom prst="rect">
            <a:avLst/>
          </a:prstGeom>
          <a:noFill/>
          <a:ln>
            <a:noFill/>
          </a:ln>
        </p:spPr>
      </p:pic>
      <p:sp>
        <p:nvSpPr>
          <p:cNvPr id="147" name="Google Shape;147;g38cdb4fd196_2_27"/>
          <p:cNvSpPr txBox="1"/>
          <p:nvPr/>
        </p:nvSpPr>
        <p:spPr>
          <a:xfrm>
            <a:off x="275725" y="1027700"/>
            <a:ext cx="11187600" cy="5490845"/>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Model performance is assessed using multiple evaluation metrics:</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US" altLang="en-GB" sz="2000" b="1">
                <a:solidFill>
                  <a:schemeClr val="tx1"/>
                </a:solidFill>
                <a:latin typeface="Times New Roman" panose="02020603050405020304"/>
                <a:ea typeface="Times New Roman" panose="02020603050405020304"/>
                <a:cs typeface="Times New Roman" panose="02020603050405020304"/>
                <a:sym typeface="Times New Roman" panose="02020603050405020304"/>
              </a:rPr>
              <a:t>R</a:t>
            </a:r>
            <a:r>
              <a:rPr lang="en-US" altLang="en-US" sz="2000" b="1">
                <a:solidFill>
                  <a:schemeClr val="tx1"/>
                </a:solidFill>
                <a:latin typeface="Times New Roman" panose="02020603050405020304"/>
                <a:ea typeface="Times New Roman" panose="02020603050405020304"/>
                <a:cs typeface="Times New Roman" panose="02020603050405020304"/>
                <a:sym typeface="Times New Roman" panose="02020603050405020304"/>
              </a:rPr>
              <a:t>²</a:t>
            </a:r>
            <a:r>
              <a:rPr lang="en-US" altLang="en-GB" sz="2000" b="1">
                <a:solidFill>
                  <a:schemeClr val="tx1"/>
                </a:solidFill>
                <a:latin typeface="Times New Roman" panose="02020603050405020304"/>
                <a:ea typeface="Times New Roman" panose="02020603050405020304"/>
                <a:cs typeface="Times New Roman" panose="02020603050405020304"/>
                <a:sym typeface="Times New Roman" panose="02020603050405020304"/>
              </a:rPr>
              <a:t> Score:</a:t>
            </a: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 Measures how well the model explains output variability</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US" altLang="en-GB" sz="2000" b="1">
                <a:solidFill>
                  <a:schemeClr val="tx1"/>
                </a:solidFill>
                <a:latin typeface="Times New Roman" panose="02020603050405020304"/>
                <a:ea typeface="Times New Roman" panose="02020603050405020304"/>
                <a:cs typeface="Times New Roman" panose="02020603050405020304"/>
                <a:sym typeface="Times New Roman" panose="02020603050405020304"/>
              </a:rPr>
              <a:t>MAE:</a:t>
            </a: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 Indicates average prediction error</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US" altLang="en-GB" sz="2000" b="1">
                <a:solidFill>
                  <a:schemeClr val="tx1"/>
                </a:solidFill>
                <a:latin typeface="Times New Roman" panose="02020603050405020304"/>
                <a:ea typeface="Times New Roman" panose="02020603050405020304"/>
                <a:cs typeface="Times New Roman" panose="02020603050405020304"/>
                <a:sym typeface="Times New Roman" panose="02020603050405020304"/>
              </a:rPr>
              <a:t>MSE &amp; RMSE: </a:t>
            </a: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Penalize large prediction errors</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US" altLang="en-GB" sz="2000" b="1">
                <a:solidFill>
                  <a:schemeClr val="tx1"/>
                </a:solidFill>
                <a:latin typeface="Times New Roman" panose="02020603050405020304"/>
                <a:ea typeface="Times New Roman" panose="02020603050405020304"/>
                <a:cs typeface="Times New Roman" panose="02020603050405020304"/>
                <a:sym typeface="Times New Roman" panose="02020603050405020304"/>
              </a:rPr>
              <a:t>Visual Analysis Includes:</a:t>
            </a:r>
            <a:endParaRPr lang="en-US" altLang="en-GB" sz="2000" b="1">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Residual plots to check randomness of errors</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Actual vs. predicted plots to evaluate prediction accuracy</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The model demonstrating the best balance between accuracy and stability is selected for deployment.</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1" name="Shape 151"/>
        <p:cNvGrpSpPr/>
        <p:nvPr/>
      </p:nvGrpSpPr>
      <p:grpSpPr>
        <a:xfrm>
          <a:off x="0" y="0"/>
          <a:ext cx="0" cy="0"/>
          <a:chOff x="0" y="0"/>
          <a:chExt cx="0" cy="0"/>
        </a:xfrm>
      </p:grpSpPr>
      <p:sp>
        <p:nvSpPr>
          <p:cNvPr id="152" name="Google Shape;152;p12"/>
          <p:cNvSpPr txBox="1"/>
          <p:nvPr/>
        </p:nvSpPr>
        <p:spPr>
          <a:xfrm>
            <a:off x="925195" y="565785"/>
            <a:ext cx="10417810" cy="562673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Font typeface="Arial" panose="020B0604020202020204"/>
              <a:buNone/>
            </a:pPr>
            <a:r>
              <a:rPr lang="en-IN" sz="4000">
                <a:solidFill>
                  <a:srgbClr val="2F5496"/>
                </a:solidFill>
                <a:latin typeface="Times New Roman" panose="02020603050405020304"/>
                <a:ea typeface="Times New Roman" panose="02020603050405020304"/>
                <a:cs typeface="Times New Roman" panose="02020603050405020304"/>
                <a:sym typeface="Times New Roman" panose="02020603050405020304"/>
              </a:rPr>
              <a:t>Stream API Deployment (Streamlit)</a:t>
            </a:r>
            <a:endParaRPr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400"/>
              </a:spcBef>
              <a:spcAft>
                <a:spcPts val="0"/>
              </a:spcAft>
              <a:buClr>
                <a:schemeClr val="dk1"/>
              </a:buClr>
              <a:buSzPts val="1100"/>
              <a:buFont typeface="Arial" panose="020B0604020202020204"/>
              <a:buNone/>
            </a:pPr>
            <a:endParaRPr sz="1300" b="1">
              <a:solidFill>
                <a:srgbClr val="2F5496"/>
              </a:solidFill>
            </a:endParaRPr>
          </a:p>
          <a:p>
            <a:pPr marL="457200" lvl="0" indent="-368300" algn="l" rtl="0">
              <a:lnSpc>
                <a:spcPct val="150000"/>
              </a:lnSpc>
              <a:spcBef>
                <a:spcPts val="1200"/>
              </a:spcBef>
              <a:spcAft>
                <a:spcPts val="0"/>
              </a:spcAft>
              <a:buClr>
                <a:srgbClr val="2F5496"/>
              </a:buClr>
              <a:buSzPts val="2200"/>
              <a:buChar char="●"/>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A user-friendly Streamlit application is developed to deploy the trained model.</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lnSpc>
                <a:spcPct val="150000"/>
              </a:lnSpc>
              <a:spcBef>
                <a:spcPts val="1200"/>
              </a:spcBef>
              <a:spcAft>
                <a:spcPts val="0"/>
              </a:spcAft>
              <a:buClr>
                <a:srgbClr val="2F5496"/>
              </a:buClr>
              <a:buSzPts val="2200"/>
              <a:buChar char="●"/>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Allows users to input machine parameters through an interactive UI</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lnSpc>
                <a:spcPct val="150000"/>
              </a:lnSpc>
              <a:spcBef>
                <a:spcPts val="1200"/>
              </a:spcBef>
              <a:spcAft>
                <a:spcPts val="0"/>
              </a:spcAft>
              <a:buClr>
                <a:srgbClr val="2F5496"/>
              </a:buClr>
              <a:buSzPts val="2200"/>
              <a:buChar char="●"/>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Predicts hourly production output in real time</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lnSpc>
                <a:spcPct val="150000"/>
              </a:lnSpc>
              <a:spcBef>
                <a:spcPts val="1200"/>
              </a:spcBef>
              <a:spcAft>
                <a:spcPts val="0"/>
              </a:spcAft>
              <a:buClr>
                <a:srgbClr val="2F5496"/>
              </a:buClr>
              <a:buSzPts val="2200"/>
              <a:buChar char="●"/>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Designed for non-technical users such as operators and supervisors</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lnSpc>
                <a:spcPct val="150000"/>
              </a:lnSpc>
              <a:spcBef>
                <a:spcPts val="1200"/>
              </a:spcBef>
              <a:spcAft>
                <a:spcPts val="0"/>
              </a:spcAft>
              <a:buClr>
                <a:srgbClr val="2F5496"/>
              </a:buClr>
              <a:buSzPts val="2200"/>
              <a:buChar char="●"/>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Includes input validation to prevent incorrect data entry</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lnSpc>
                <a:spcPct val="150000"/>
              </a:lnSpc>
              <a:spcBef>
                <a:spcPts val="1200"/>
              </a:spcBef>
              <a:spcAft>
                <a:spcPts val="0"/>
              </a:spcAft>
              <a:buClr>
                <a:srgbClr val="2F5496"/>
              </a:buClr>
              <a:buSzPts val="2200"/>
              <a:buChar char="●"/>
            </a:pPr>
            <a:r>
              <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rPr>
              <a:t>This deployment makes the model accessible for day-to-day manufacturing decisions.</a:t>
            </a:r>
            <a:endParaRPr lang="en-US" altLang="en-GB" sz="2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53" name="Google Shape;153;p12"/>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57" name="Shape 157"/>
        <p:cNvGrpSpPr/>
        <p:nvPr/>
      </p:nvGrpSpPr>
      <p:grpSpPr>
        <a:xfrm>
          <a:off x="0" y="0"/>
          <a:ext cx="0" cy="0"/>
          <a:chOff x="0" y="0"/>
          <a:chExt cx="0" cy="0"/>
        </a:xfrm>
      </p:grpSpPr>
      <p:sp>
        <p:nvSpPr>
          <p:cNvPr id="158" name="Google Shape;158;p11"/>
          <p:cNvSpPr txBox="1"/>
          <p:nvPr/>
        </p:nvSpPr>
        <p:spPr>
          <a:xfrm>
            <a:off x="925286" y="566057"/>
            <a:ext cx="10417500" cy="525526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5000"/>
              </a:lnSpc>
              <a:spcBef>
                <a:spcPts val="0"/>
              </a:spcBef>
              <a:spcAft>
                <a:spcPts val="0"/>
              </a:spcAft>
              <a:buNone/>
            </a:pPr>
            <a:r>
              <a:rPr lang="en-IN" sz="2800">
                <a:solidFill>
                  <a:srgbClr val="2F5496"/>
                </a:solidFill>
                <a:latin typeface="Times New Roman" panose="02020603050405020304"/>
                <a:ea typeface="Times New Roman" panose="02020603050405020304"/>
                <a:cs typeface="Times New Roman" panose="02020603050405020304"/>
                <a:sym typeface="Times New Roman" panose="02020603050405020304"/>
              </a:rPr>
              <a:t>Docker Deployment </a:t>
            </a:r>
            <a:endParaRPr sz="2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5000"/>
              </a:lnSpc>
              <a:spcBef>
                <a:spcPts val="0"/>
              </a:spcBef>
              <a:spcAft>
                <a:spcPts val="0"/>
              </a:spcAft>
              <a:buNone/>
            </a:pPr>
            <a:endParaRPr sz="22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19050" lvl="0" indent="0" algn="just" rtl="0">
              <a:lnSpc>
                <a:spcPct val="115000"/>
              </a:lnSpc>
              <a:spcBef>
                <a:spcPts val="0"/>
              </a:spcBef>
              <a:spcAft>
                <a:spcPts val="0"/>
              </a:spcAft>
              <a:buClr>
                <a:srgbClr val="2F5496"/>
              </a:buClr>
              <a:buSzPts val="3300"/>
              <a:buFont typeface="Times New Roman" panose="02020603050405020304"/>
              <a:buNone/>
            </a:pP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To ensure portability and scalability, the application is containerized using Docker.</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Dockerfile</a:t>
            </a: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 Defines the runtime environment</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requirements.txt</a:t>
            </a: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 Lists all project dependencies</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docker-compose.yml:</a:t>
            </a: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 Supports multi-service deployment</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r>
              <a:rPr lang="en-US" altLang="en-GB" sz="2200" b="1">
                <a:solidFill>
                  <a:schemeClr val="tx1"/>
                </a:solidFill>
                <a:latin typeface="Times New Roman" panose="02020603050405020304"/>
                <a:ea typeface="Times New Roman" panose="02020603050405020304"/>
                <a:cs typeface="Times New Roman" panose="02020603050405020304"/>
                <a:sym typeface="Times New Roman" panose="02020603050405020304"/>
              </a:rPr>
              <a:t>.dockerignore:</a:t>
            </a:r>
            <a:r>
              <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rPr>
              <a:t> Reduces image size by excluding unnecessary files</a:t>
            </a: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38150" algn="just" rtl="0">
              <a:lnSpc>
                <a:spcPct val="115000"/>
              </a:lnSpc>
              <a:spcBef>
                <a:spcPts val="0"/>
              </a:spcBef>
              <a:spcAft>
                <a:spcPts val="0"/>
              </a:spcAft>
              <a:buClr>
                <a:srgbClr val="2F5496"/>
              </a:buClr>
              <a:buSzPts val="3300"/>
              <a:buFont typeface="Times New Roman" panose="02020603050405020304"/>
              <a:buChar char="●"/>
            </a:pPr>
            <a:endParaRPr lang="en-US" altLang="en-GB" sz="22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59" name="Google Shape;159;p11"/>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63" name="Shape 163"/>
        <p:cNvGrpSpPr/>
        <p:nvPr/>
      </p:nvGrpSpPr>
      <p:grpSpPr>
        <a:xfrm>
          <a:off x="0" y="0"/>
          <a:ext cx="0" cy="0"/>
          <a:chOff x="0" y="0"/>
          <a:chExt cx="0" cy="0"/>
        </a:xfrm>
      </p:grpSpPr>
      <p:sp>
        <p:nvSpPr>
          <p:cNvPr id="164" name="Google Shape;164;p13"/>
          <p:cNvSpPr txBox="1"/>
          <p:nvPr/>
        </p:nvSpPr>
        <p:spPr>
          <a:xfrm>
            <a:off x="887186" y="650107"/>
            <a:ext cx="10417500" cy="4583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2800" b="1">
                <a:solidFill>
                  <a:srgbClr val="2F5496"/>
                </a:solidFill>
                <a:latin typeface="Times New Roman" panose="02020603050405020304"/>
                <a:ea typeface="Times New Roman" panose="02020603050405020304"/>
                <a:cs typeface="Times New Roman" panose="02020603050405020304"/>
                <a:sym typeface="Times New Roman" panose="02020603050405020304"/>
              </a:rPr>
              <a:t>Conclusion</a:t>
            </a:r>
            <a:endParaRPr sz="28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200"/>
              </a:spcBef>
              <a:spcAft>
                <a:spcPts val="0"/>
              </a:spcAft>
              <a:buClr>
                <a:schemeClr val="dk1"/>
              </a:buClr>
              <a:buSzPts val="1100"/>
              <a:buFont typeface="Arial" panose="020B0604020202020204"/>
              <a:buNone/>
            </a:pPr>
            <a:r>
              <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rPr>
              <a:t>This project demonstrates an end-to-end machine learning solution for predicting injection molding machine output. By leveraging linear regression techniques and carefully engineered features, the model provides accurate and actionable production forecasts.</a:t>
            </a: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200"/>
              </a:spcBef>
              <a:spcAft>
                <a:spcPts val="0"/>
              </a:spcAft>
              <a:buClr>
                <a:schemeClr val="dk1"/>
              </a:buClr>
              <a:buSzPts val="1100"/>
              <a:buFont typeface="Arial" panose="020B0604020202020204"/>
              <a:buNone/>
            </a:pPr>
            <a:r>
              <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rPr>
              <a:t>The insights gained help optimize machine settings, improve maintenance planning, and enhance operator efficiency. Deployment through Streamlit and Docker ensures the solution is production-ready and easy to integrate into real-world manufacturing environments.</a:t>
            </a: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1200"/>
              </a:spcBef>
              <a:spcAft>
                <a:spcPts val="0"/>
              </a:spcAft>
              <a:buClr>
                <a:schemeClr val="dk1"/>
              </a:buClr>
              <a:buSzPts val="1100"/>
              <a:buFont typeface="Arial" panose="020B0604020202020204"/>
              <a:buNone/>
            </a:pPr>
            <a:r>
              <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rPr>
              <a:t>Overall, the project highlights how data-driven approaches can significantly improve operational efficiency in industrial systems.</a:t>
            </a:r>
            <a:endParaRPr lang="en-US" altLang="en-GB" sz="18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65" name="Google Shape;165;p13"/>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sp>
        <p:nvSpPr>
          <p:cNvPr id="170" name="Google Shape;170;p14"/>
          <p:cNvSpPr txBox="1"/>
          <p:nvPr/>
        </p:nvSpPr>
        <p:spPr>
          <a:xfrm>
            <a:off x="903457" y="673906"/>
            <a:ext cx="10385100" cy="5260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250000"/>
              </a:lnSpc>
              <a:spcBef>
                <a:spcPts val="0"/>
              </a:spcBef>
              <a:spcAft>
                <a:spcPts val="0"/>
              </a:spcAft>
              <a:buNone/>
            </a:pPr>
            <a:r>
              <a:rPr lang="en-IN" sz="8000">
                <a:solidFill>
                  <a:srgbClr val="2F5496"/>
                </a:solidFill>
                <a:latin typeface="Times New Roman" panose="02020603050405020304"/>
                <a:ea typeface="Times New Roman" panose="02020603050405020304"/>
                <a:cs typeface="Times New Roman" panose="02020603050405020304"/>
                <a:sym typeface="Times New Roman" panose="02020603050405020304"/>
              </a:rPr>
              <a:t>Any Questions???</a:t>
            </a:r>
            <a:br>
              <a:rPr lang="en-IN" sz="8000">
                <a:solidFill>
                  <a:srgbClr val="2F5496"/>
                </a:solidFill>
                <a:latin typeface="Times New Roman" panose="02020603050405020304"/>
                <a:ea typeface="Times New Roman" panose="02020603050405020304"/>
                <a:cs typeface="Times New Roman" panose="02020603050405020304"/>
                <a:sym typeface="Times New Roman" panose="02020603050405020304"/>
              </a:rPr>
            </a:br>
            <a:endParaRPr sz="4000">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71" name="Google Shape;171;p14"/>
          <p:cNvPicPr preferRelativeResize="0"/>
          <p:nvPr/>
        </p:nvPicPr>
        <p:blipFill rotWithShape="1">
          <a:blip r:embed="rId1"/>
          <a:srcRect/>
          <a:stretch>
            <a:fillRect/>
          </a:stretch>
        </p:blipFill>
        <p:spPr>
          <a:xfrm>
            <a:off x="10232571" y="304800"/>
            <a:ext cx="1578429" cy="105591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6417</Words>
  <Application>WPS Presentation</Application>
  <PresentationFormat/>
  <Paragraphs>203</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vt:lpstr>
      <vt:lpstr>Calibri</vt:lpstr>
      <vt:lpstr>Anta</vt:lpstr>
      <vt:lpstr>Segoe Print</vt:lpstr>
      <vt:lpstr>Times New Roman</vt:lpstr>
      <vt:lpstr>Microsoft YaHei</vt:lpstr>
      <vt:lpstr>Arial Unicode MS</vt:lpstr>
      <vt:lpstr>Office Theme</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_x000B_    Capstone Project 1  “MANUFACTURING  EQUIPMENT  OUTPUT PREDICTION  WITH  LINEAR  REGRESSION” </dc:title>
  <dc:creator>TNS INDIA FOUNDATION</dc:creator>
  <cp:lastModifiedBy>Gagan Gowda</cp:lastModifiedBy>
  <cp:revision>2</cp:revision>
  <dcterms:created xsi:type="dcterms:W3CDTF">2026-02-22T06:09:28Z</dcterms:created>
  <dcterms:modified xsi:type="dcterms:W3CDTF">2026-02-22T06:09:56Z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54028DC7C95E4E068B537395AE4F2C59_13</vt:lpwstr>
  </property>
  <property fmtid="{D5CDD505-2E9C-101B-9397-08002B2CF9AE}" pid="3" name="KSOProductBuildVer">
    <vt:lpwstr>2057-12.2.0.23197</vt:lpwstr>
  </property>
</Properties>
</file>